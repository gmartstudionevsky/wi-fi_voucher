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9" r:id="rId3"/>
  </p:sldIdLst>
  <p:sldSz cx="10693400" cy="7556500"/>
  <p:notesSz cx="6858000" cy="9144000"/>
  <p:embeddedFontLst>
    <p:embeddedFont>
      <p:font typeface="Circe" panose="020B0502020203020203" pitchFamily="34" charset="-52"/>
      <p:regular r:id="rId4"/>
    </p:embeddedFont>
    <p:embeddedFont>
      <p:font typeface="Circe Bold" panose="020B0602020203020203" pitchFamily="34" charset="-52"/>
      <p:regular r:id="rId5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6" d="100"/>
          <a:sy n="96" d="100"/>
        </p:scale>
        <p:origin x="156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357A438C-9138-E44A-5699-BBBB132E9942}"/>
              </a:ext>
            </a:extLst>
          </p:cNvPr>
          <p:cNvGrpSpPr/>
          <p:nvPr/>
        </p:nvGrpSpPr>
        <p:grpSpPr>
          <a:xfrm>
            <a:off x="88900" y="577850"/>
            <a:ext cx="3451125" cy="5379191"/>
            <a:chOff x="290103" y="520040"/>
            <a:chExt cx="3451125" cy="5379191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B2396099-D8BB-3B2A-E490-D6DA04ED7897}"/>
                </a:ext>
              </a:extLst>
            </p:cNvPr>
            <p:cNvGrpSpPr/>
            <p:nvPr/>
          </p:nvGrpSpPr>
          <p:grpSpPr>
            <a:xfrm>
              <a:off x="290103" y="520040"/>
              <a:ext cx="3146443" cy="2595936"/>
              <a:chOff x="0" y="0"/>
              <a:chExt cx="4195258" cy="3461248"/>
            </a:xfrm>
          </p:grpSpPr>
          <p:grpSp>
            <p:nvGrpSpPr>
              <p:cNvPr id="4" name="Group 16">
                <a:extLst>
                  <a:ext uri="{FF2B5EF4-FFF2-40B4-BE49-F238E27FC236}">
                    <a16:creationId xmlns:a16="http://schemas.microsoft.com/office/drawing/2014/main" id="{3E656E09-7416-D1B8-72B9-492C9ACB4E26}"/>
                  </a:ext>
                </a:extLst>
              </p:cNvPr>
              <p:cNvGrpSpPr/>
              <p:nvPr/>
            </p:nvGrpSpPr>
            <p:grpSpPr>
              <a:xfrm>
                <a:off x="0" y="0"/>
                <a:ext cx="885827" cy="885827"/>
                <a:chOff x="0" y="0"/>
                <a:chExt cx="812800" cy="812800"/>
              </a:xfrm>
            </p:grpSpPr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A1E9566B-16AB-ADF2-C33E-50AC6AB0C44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BE7E7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8" name="TextBox 18">
                  <a:extLst>
                    <a:ext uri="{FF2B5EF4-FFF2-40B4-BE49-F238E27FC236}">
                      <a16:creationId xmlns:a16="http://schemas.microsoft.com/office/drawing/2014/main" id="{9B523A20-47BB-C358-249D-B1430BFCE1C5}"/>
                    </a:ext>
                  </a:extLst>
                </p:cNvPr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sp>
            <p:nvSpPr>
              <p:cNvPr id="5" name="AutoShape 19">
                <a:extLst>
                  <a:ext uri="{FF2B5EF4-FFF2-40B4-BE49-F238E27FC236}">
                    <a16:creationId xmlns:a16="http://schemas.microsoft.com/office/drawing/2014/main" id="{E552BF0F-C790-6B4F-48C3-8495DA970452}"/>
                  </a:ext>
                </a:extLst>
              </p:cNvPr>
              <p:cNvSpPr/>
              <p:nvPr/>
            </p:nvSpPr>
            <p:spPr>
              <a:xfrm flipV="1">
                <a:off x="885827" y="998817"/>
                <a:ext cx="1889581" cy="0"/>
              </a:xfrm>
              <a:prstGeom prst="line">
                <a:avLst/>
              </a:prstGeom>
              <a:ln w="25400" cap="rnd">
                <a:solidFill>
                  <a:srgbClr val="76757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TextBox 20">
                <a:extLst>
                  <a:ext uri="{FF2B5EF4-FFF2-40B4-BE49-F238E27FC236}">
                    <a16:creationId xmlns:a16="http://schemas.microsoft.com/office/drawing/2014/main" id="{C28673D3-3BA4-076D-544C-F86A58D51872}"/>
                  </a:ext>
                </a:extLst>
              </p:cNvPr>
              <p:cNvSpPr txBox="1"/>
              <p:nvPr/>
            </p:nvSpPr>
            <p:spPr>
              <a:xfrm>
                <a:off x="442913" y="152693"/>
                <a:ext cx="3752345" cy="71823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357"/>
                  </a:lnSpc>
                </a:pPr>
                <a:r>
                  <a:rPr lang="ru-RU" sz="1169" b="1" dirty="0">
                    <a:solidFill>
                      <a:srgbClr val="000000"/>
                    </a:solidFill>
                    <a:latin typeface="Circe Bold"/>
                    <a:ea typeface="Circe Bold"/>
                    <a:cs typeface="Circe Bold"/>
                    <a:sym typeface="Circe Bold"/>
                  </a:rPr>
                  <a:t>Заказ цветов</a:t>
                </a:r>
              </a:p>
              <a:p>
                <a:pPr algn="l">
                  <a:lnSpc>
                    <a:spcPts val="1357"/>
                  </a:lnSpc>
                </a:pPr>
                <a:r>
                  <a:rPr lang="ru-RU" sz="1169" dirty="0">
                    <a:solidFill>
                      <a:srgbClr val="000000"/>
                    </a:solidFill>
                    <a:latin typeface="Circe" panose="020B0502020203020203" pitchFamily="34" charset="-52"/>
                    <a:ea typeface="Circe Bold"/>
                    <a:cs typeface="Circe Bold"/>
                    <a:sym typeface="Circe Bold"/>
                  </a:rPr>
                  <a:t>Поможем подобрать и оформить букет — обращайтесь к администратору.</a:t>
                </a:r>
              </a:p>
            </p:txBody>
          </p:sp>
          <p:grpSp>
            <p:nvGrpSpPr>
              <p:cNvPr id="7" name="Group 21">
                <a:extLst>
                  <a:ext uri="{FF2B5EF4-FFF2-40B4-BE49-F238E27FC236}">
                    <a16:creationId xmlns:a16="http://schemas.microsoft.com/office/drawing/2014/main" id="{304FD048-84D7-ED85-8006-79FAC54362FD}"/>
                  </a:ext>
                </a:extLst>
              </p:cNvPr>
              <p:cNvGrpSpPr/>
              <p:nvPr/>
            </p:nvGrpSpPr>
            <p:grpSpPr>
              <a:xfrm>
                <a:off x="0" y="1143217"/>
                <a:ext cx="885827" cy="885827"/>
                <a:chOff x="0" y="0"/>
                <a:chExt cx="812800" cy="812800"/>
              </a:xfrm>
            </p:grpSpPr>
            <p:sp>
              <p:nvSpPr>
                <p:cNvPr id="15" name="Freeform 22">
                  <a:extLst>
                    <a:ext uri="{FF2B5EF4-FFF2-40B4-BE49-F238E27FC236}">
                      <a16:creationId xmlns:a16="http://schemas.microsoft.com/office/drawing/2014/main" id="{8C0A7496-E4DC-C508-3526-5B38FE20F0A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BE7E7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6" name="TextBox 23">
                  <a:extLst>
                    <a:ext uri="{FF2B5EF4-FFF2-40B4-BE49-F238E27FC236}">
                      <a16:creationId xmlns:a16="http://schemas.microsoft.com/office/drawing/2014/main" id="{7032AEC3-5FAB-3848-08B4-A07B52D95258}"/>
                    </a:ext>
                  </a:extLst>
                </p:cNvPr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grpSp>
            <p:nvGrpSpPr>
              <p:cNvPr id="8" name="Group 24">
                <a:extLst>
                  <a:ext uri="{FF2B5EF4-FFF2-40B4-BE49-F238E27FC236}">
                    <a16:creationId xmlns:a16="http://schemas.microsoft.com/office/drawing/2014/main" id="{7443EBBE-D92E-4147-AAAF-D4EE974C3B41}"/>
                  </a:ext>
                </a:extLst>
              </p:cNvPr>
              <p:cNvGrpSpPr/>
              <p:nvPr/>
            </p:nvGrpSpPr>
            <p:grpSpPr>
              <a:xfrm>
                <a:off x="0" y="2403461"/>
                <a:ext cx="885827" cy="885827"/>
                <a:chOff x="0" y="0"/>
                <a:chExt cx="812800" cy="812800"/>
              </a:xfrm>
            </p:grpSpPr>
            <p:sp>
              <p:nvSpPr>
                <p:cNvPr id="13" name="Freeform 25">
                  <a:extLst>
                    <a:ext uri="{FF2B5EF4-FFF2-40B4-BE49-F238E27FC236}">
                      <a16:creationId xmlns:a16="http://schemas.microsoft.com/office/drawing/2014/main" id="{250B818A-ADFE-A804-DFB4-CEF7DC4F305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BE7E7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4" name="TextBox 26">
                  <a:extLst>
                    <a:ext uri="{FF2B5EF4-FFF2-40B4-BE49-F238E27FC236}">
                      <a16:creationId xmlns:a16="http://schemas.microsoft.com/office/drawing/2014/main" id="{1C49D929-8094-C7B3-50EB-6A071C9684B7}"/>
                    </a:ext>
                  </a:extLst>
                </p:cNvPr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sp>
            <p:nvSpPr>
              <p:cNvPr id="9" name="AutoShape 27">
                <a:extLst>
                  <a:ext uri="{FF2B5EF4-FFF2-40B4-BE49-F238E27FC236}">
                    <a16:creationId xmlns:a16="http://schemas.microsoft.com/office/drawing/2014/main" id="{D390AEE3-9BF0-D11E-4469-E954DC228862}"/>
                  </a:ext>
                </a:extLst>
              </p:cNvPr>
              <p:cNvSpPr/>
              <p:nvPr/>
            </p:nvSpPr>
            <p:spPr>
              <a:xfrm flipV="1">
                <a:off x="885827" y="3461248"/>
                <a:ext cx="1889581" cy="0"/>
              </a:xfrm>
              <a:prstGeom prst="line">
                <a:avLst/>
              </a:prstGeom>
              <a:ln w="25400" cap="rnd">
                <a:solidFill>
                  <a:srgbClr val="76757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AutoShape 28">
                <a:extLst>
                  <a:ext uri="{FF2B5EF4-FFF2-40B4-BE49-F238E27FC236}">
                    <a16:creationId xmlns:a16="http://schemas.microsoft.com/office/drawing/2014/main" id="{76DC279A-4AC7-B3F2-DA82-854DD73969C7}"/>
                  </a:ext>
                </a:extLst>
              </p:cNvPr>
              <p:cNvSpPr/>
              <p:nvPr/>
            </p:nvSpPr>
            <p:spPr>
              <a:xfrm flipV="1">
                <a:off x="885827" y="2187561"/>
                <a:ext cx="1889581" cy="0"/>
              </a:xfrm>
              <a:prstGeom prst="line">
                <a:avLst/>
              </a:prstGeom>
              <a:ln w="25400" cap="rnd">
                <a:solidFill>
                  <a:srgbClr val="76757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TextBox 29">
                <a:extLst>
                  <a:ext uri="{FF2B5EF4-FFF2-40B4-BE49-F238E27FC236}">
                    <a16:creationId xmlns:a16="http://schemas.microsoft.com/office/drawing/2014/main" id="{923EF2B3-D3EB-8541-EF50-1004A378DA60}"/>
                  </a:ext>
                </a:extLst>
              </p:cNvPr>
              <p:cNvSpPr txBox="1"/>
              <p:nvPr/>
            </p:nvSpPr>
            <p:spPr>
              <a:xfrm>
                <a:off x="442913" y="1226277"/>
                <a:ext cx="3628993" cy="66813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331"/>
                  </a:lnSpc>
                </a:pPr>
                <a:r>
                  <a:rPr lang="ru-RU" sz="1109" b="1" dirty="0">
                    <a:solidFill>
                      <a:srgbClr val="000000"/>
                    </a:solidFill>
                    <a:latin typeface="Circe Bold"/>
                    <a:ea typeface="Circe Bold"/>
                    <a:cs typeface="Circe Bold"/>
                    <a:sym typeface="Circe Bold"/>
                  </a:rPr>
                  <a:t>Экскурсии</a:t>
                </a:r>
              </a:p>
              <a:p>
                <a:pPr algn="l">
                  <a:lnSpc>
                    <a:spcPts val="1331"/>
                  </a:lnSpc>
                </a:pPr>
                <a:r>
                  <a:rPr lang="ru-RU" sz="1109" dirty="0">
                    <a:solidFill>
                      <a:srgbClr val="000000"/>
                    </a:solidFill>
                    <a:latin typeface="Circe" panose="020B0502020203020203" pitchFamily="34" charset="-52"/>
                    <a:ea typeface="Circe Bold"/>
                    <a:cs typeface="Circe Bold"/>
                    <a:sym typeface="Circe Bold"/>
                  </a:rPr>
                  <a:t>На ресепшене можно приобрести экскурсии</a:t>
                </a:r>
              </a:p>
            </p:txBody>
          </p:sp>
          <p:sp>
            <p:nvSpPr>
              <p:cNvPr id="12" name="TextBox 30">
                <a:extLst>
                  <a:ext uri="{FF2B5EF4-FFF2-40B4-BE49-F238E27FC236}">
                    <a16:creationId xmlns:a16="http://schemas.microsoft.com/office/drawing/2014/main" id="{FC76D6A6-D963-AD8D-0E63-B9CFBF7CA6D9}"/>
                  </a:ext>
                </a:extLst>
              </p:cNvPr>
              <p:cNvSpPr txBox="1"/>
              <p:nvPr/>
            </p:nvSpPr>
            <p:spPr>
              <a:xfrm>
                <a:off x="393917" y="2527752"/>
                <a:ext cx="3677989" cy="71814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386"/>
                  </a:lnSpc>
                </a:pPr>
                <a:r>
                  <a:rPr lang="ru-RU" sz="1109" b="1" dirty="0">
                    <a:solidFill>
                      <a:srgbClr val="000000"/>
                    </a:solidFill>
                    <a:latin typeface="Circe Bold"/>
                    <a:ea typeface="Circe Bold"/>
                    <a:cs typeface="Circe Bold"/>
                    <a:sym typeface="Circe Bold"/>
                  </a:rPr>
                  <a:t>Трансфер</a:t>
                </a:r>
              </a:p>
              <a:p>
                <a:pPr algn="l">
                  <a:lnSpc>
                    <a:spcPts val="1386"/>
                  </a:lnSpc>
                </a:pPr>
                <a:r>
                  <a:rPr lang="ru-RU" sz="1109" dirty="0">
                    <a:solidFill>
                      <a:srgbClr val="000000"/>
                    </a:solidFill>
                    <a:latin typeface="Circe" panose="020B0502020203020203" pitchFamily="34" charset="-52"/>
                    <a:ea typeface="Circe Bold"/>
                    <a:cs typeface="Circe Bold"/>
                    <a:sym typeface="Circe Bold"/>
                  </a:rPr>
                  <a:t>Закажите трансфер до вокзала/аэропорта — подробности у администратора.</a:t>
                </a:r>
              </a:p>
            </p:txBody>
          </p:sp>
        </p:grpSp>
        <p:grpSp>
          <p:nvGrpSpPr>
            <p:cNvPr id="19" name="Group 31">
              <a:extLst>
                <a:ext uri="{FF2B5EF4-FFF2-40B4-BE49-F238E27FC236}">
                  <a16:creationId xmlns:a16="http://schemas.microsoft.com/office/drawing/2014/main" id="{55860F3C-6CE9-AB67-BD3C-94F20DC53D1E}"/>
                </a:ext>
              </a:extLst>
            </p:cNvPr>
            <p:cNvGrpSpPr/>
            <p:nvPr/>
          </p:nvGrpSpPr>
          <p:grpSpPr>
            <a:xfrm>
              <a:off x="290103" y="3243757"/>
              <a:ext cx="664370" cy="664370"/>
              <a:chOff x="0" y="0"/>
              <a:chExt cx="812800" cy="812800"/>
            </a:xfrm>
          </p:grpSpPr>
          <p:sp>
            <p:nvSpPr>
              <p:cNvPr id="20" name="Freeform 32">
                <a:extLst>
                  <a:ext uri="{FF2B5EF4-FFF2-40B4-BE49-F238E27FC236}">
                    <a16:creationId xmlns:a16="http://schemas.microsoft.com/office/drawing/2014/main" id="{A1760AD8-5915-CBB6-2DEF-5CE7DBD9AC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TextBox 33">
                <a:extLst>
                  <a:ext uri="{FF2B5EF4-FFF2-40B4-BE49-F238E27FC236}">
                    <a16:creationId xmlns:a16="http://schemas.microsoft.com/office/drawing/2014/main" id="{F3423D35-76A6-2EFA-5EA8-AD46DE54B84E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22" name="Group 34">
              <a:extLst>
                <a:ext uri="{FF2B5EF4-FFF2-40B4-BE49-F238E27FC236}">
                  <a16:creationId xmlns:a16="http://schemas.microsoft.com/office/drawing/2014/main" id="{B2E02752-1037-A6EF-516D-308A90F146F0}"/>
                </a:ext>
              </a:extLst>
            </p:cNvPr>
            <p:cNvGrpSpPr/>
            <p:nvPr/>
          </p:nvGrpSpPr>
          <p:grpSpPr>
            <a:xfrm>
              <a:off x="290103" y="4154729"/>
              <a:ext cx="664370" cy="664370"/>
              <a:chOff x="0" y="0"/>
              <a:chExt cx="812800" cy="812800"/>
            </a:xfrm>
          </p:grpSpPr>
          <p:sp>
            <p:nvSpPr>
              <p:cNvPr id="23" name="Freeform 35">
                <a:extLst>
                  <a:ext uri="{FF2B5EF4-FFF2-40B4-BE49-F238E27FC236}">
                    <a16:creationId xmlns:a16="http://schemas.microsoft.com/office/drawing/2014/main" id="{A8AD0920-D3DA-B277-2F75-53C60A7EAEA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TextBox 36">
                <a:extLst>
                  <a:ext uri="{FF2B5EF4-FFF2-40B4-BE49-F238E27FC236}">
                    <a16:creationId xmlns:a16="http://schemas.microsoft.com/office/drawing/2014/main" id="{521F1C86-FF25-41E3-EDBA-EA3C7FCE5CE5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25" name="Group 37">
              <a:extLst>
                <a:ext uri="{FF2B5EF4-FFF2-40B4-BE49-F238E27FC236}">
                  <a16:creationId xmlns:a16="http://schemas.microsoft.com/office/drawing/2014/main" id="{24DED601-1B1C-1AB1-67F5-A03EF5261027}"/>
                </a:ext>
              </a:extLst>
            </p:cNvPr>
            <p:cNvGrpSpPr/>
            <p:nvPr/>
          </p:nvGrpSpPr>
          <p:grpSpPr>
            <a:xfrm>
              <a:off x="290103" y="5120561"/>
              <a:ext cx="664370" cy="664370"/>
              <a:chOff x="0" y="0"/>
              <a:chExt cx="812800" cy="812800"/>
            </a:xfrm>
          </p:grpSpPr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15FD9DE1-C85B-9E22-14DE-A8026F6BCB7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TextBox 39">
                <a:extLst>
                  <a:ext uri="{FF2B5EF4-FFF2-40B4-BE49-F238E27FC236}">
                    <a16:creationId xmlns:a16="http://schemas.microsoft.com/office/drawing/2014/main" id="{C79035A4-07A7-9EF0-A560-C395F9971C84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sp>
          <p:nvSpPr>
            <p:cNvPr id="28" name="AutoShape 40">
              <a:extLst>
                <a:ext uri="{FF2B5EF4-FFF2-40B4-BE49-F238E27FC236}">
                  <a16:creationId xmlns:a16="http://schemas.microsoft.com/office/drawing/2014/main" id="{8979BA40-12B6-FAAA-A23B-A5FCAA0A4115}"/>
                </a:ext>
              </a:extLst>
            </p:cNvPr>
            <p:cNvSpPr/>
            <p:nvPr/>
          </p:nvSpPr>
          <p:spPr>
            <a:xfrm flipV="1">
              <a:off x="954473" y="4091357"/>
              <a:ext cx="1417186" cy="12316"/>
            </a:xfrm>
            <a:prstGeom prst="line">
              <a:avLst/>
            </a:prstGeom>
            <a:ln w="2540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AutoShape 41">
              <a:extLst>
                <a:ext uri="{FF2B5EF4-FFF2-40B4-BE49-F238E27FC236}">
                  <a16:creationId xmlns:a16="http://schemas.microsoft.com/office/drawing/2014/main" id="{3D0B45F9-73EB-41FC-25C1-7884FED5ABBB}"/>
                </a:ext>
              </a:extLst>
            </p:cNvPr>
            <p:cNvSpPr/>
            <p:nvPr/>
          </p:nvSpPr>
          <p:spPr>
            <a:xfrm>
              <a:off x="954473" y="4822187"/>
              <a:ext cx="1417186" cy="0"/>
            </a:xfrm>
            <a:prstGeom prst="line">
              <a:avLst/>
            </a:prstGeom>
            <a:ln w="2540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AutoShape 42">
              <a:extLst>
                <a:ext uri="{FF2B5EF4-FFF2-40B4-BE49-F238E27FC236}">
                  <a16:creationId xmlns:a16="http://schemas.microsoft.com/office/drawing/2014/main" id="{12887816-1F0B-F7ED-2607-77C3548D9614}"/>
                </a:ext>
              </a:extLst>
            </p:cNvPr>
            <p:cNvSpPr/>
            <p:nvPr/>
          </p:nvSpPr>
          <p:spPr>
            <a:xfrm flipV="1">
              <a:off x="954473" y="5899231"/>
              <a:ext cx="1417186" cy="0"/>
            </a:xfrm>
            <a:prstGeom prst="line">
              <a:avLst/>
            </a:prstGeom>
            <a:ln w="2540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43">
              <a:extLst>
                <a:ext uri="{FF2B5EF4-FFF2-40B4-BE49-F238E27FC236}">
                  <a16:creationId xmlns:a16="http://schemas.microsoft.com/office/drawing/2014/main" id="{94524806-73BF-9A12-F8C4-691DB04941E7}"/>
                </a:ext>
              </a:extLst>
            </p:cNvPr>
            <p:cNvSpPr txBox="1"/>
            <p:nvPr/>
          </p:nvSpPr>
          <p:spPr>
            <a:xfrm>
              <a:off x="632229" y="3328537"/>
              <a:ext cx="2979562" cy="718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57"/>
                </a:lnSpc>
              </a:pPr>
              <a:r>
                <a:rPr lang="ru-RU" sz="116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Ресторан </a:t>
              </a:r>
              <a:r>
                <a:rPr lang="ru-RU" sz="1169" b="1" dirty="0" err="1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MemET</a:t>
              </a:r>
              <a:r>
                <a:rPr lang="ru-RU" sz="116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 &amp; </a:t>
              </a:r>
              <a:r>
                <a:rPr lang="ru-RU" sz="1169" b="1" dirty="0" err="1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Pir</a:t>
              </a:r>
              <a:endParaRPr lang="ru-RU" sz="1169" b="1" dirty="0">
                <a:solidFill>
                  <a:srgbClr val="000000"/>
                </a:solidFill>
                <a:latin typeface="Circe Bold"/>
                <a:ea typeface="Circe Bold"/>
                <a:cs typeface="Circe Bold"/>
                <a:sym typeface="Circe Bold"/>
              </a:endParaRPr>
            </a:p>
            <a:p>
              <a:pPr algn="l">
                <a:lnSpc>
                  <a:spcPts val="1357"/>
                </a:lnSpc>
              </a:pPr>
              <a:r>
                <a:rPr lang="ru-RU" sz="116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Континентальный завтрак - с 9:30-11:30,</a:t>
              </a:r>
              <a:r>
                <a:rPr lang="en-US" sz="116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 </a:t>
              </a:r>
              <a:r>
                <a:rPr lang="ru-RU" sz="116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от 950 ₽. Доступны обеды и ужины по меню</a:t>
              </a:r>
              <a:r>
                <a:rPr lang="ru-RU" sz="116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.</a:t>
              </a:r>
            </a:p>
            <a:p>
              <a:pPr algn="l">
                <a:lnSpc>
                  <a:spcPts val="1357"/>
                </a:lnSpc>
              </a:pPr>
              <a:endParaRPr lang="ru-RU" sz="1169" b="1" dirty="0">
                <a:solidFill>
                  <a:srgbClr val="000000"/>
                </a:solidFill>
                <a:latin typeface="Circe Bold"/>
                <a:ea typeface="Circe Bold"/>
                <a:cs typeface="Circe Bold"/>
                <a:sym typeface="Circe Bold"/>
              </a:endParaRPr>
            </a:p>
          </p:txBody>
        </p:sp>
        <p:sp>
          <p:nvSpPr>
            <p:cNvPr id="32" name="TextBox 44">
              <a:extLst>
                <a:ext uri="{FF2B5EF4-FFF2-40B4-BE49-F238E27FC236}">
                  <a16:creationId xmlns:a16="http://schemas.microsoft.com/office/drawing/2014/main" id="{FD0A4AA3-B6E9-AA45-5A84-57A35C91418E}"/>
                </a:ext>
              </a:extLst>
            </p:cNvPr>
            <p:cNvSpPr txBox="1"/>
            <p:nvPr/>
          </p:nvSpPr>
          <p:spPr>
            <a:xfrm>
              <a:off x="622287" y="5254428"/>
              <a:ext cx="3118941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57"/>
                </a:lnSpc>
              </a:pPr>
              <a:r>
                <a:rPr lang="ru-RU" sz="1100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DIP SPA ROOM</a:t>
              </a:r>
            </a:p>
            <a:p>
              <a:pPr algn="l">
                <a:lnSpc>
                  <a:spcPts val="1357"/>
                </a:lnSpc>
              </a:pPr>
              <a:r>
                <a:rPr lang="ru-RU" sz="1100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Для записи обратитесь к администратору </a:t>
              </a:r>
            </a:p>
            <a:p>
              <a:pPr algn="l">
                <a:lnSpc>
                  <a:spcPts val="1357"/>
                </a:lnSpc>
              </a:pPr>
              <a:r>
                <a:rPr lang="ru-RU" sz="1100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на ресепшн</a:t>
              </a:r>
            </a:p>
          </p:txBody>
        </p:sp>
        <p:sp>
          <p:nvSpPr>
            <p:cNvPr id="33" name="TextBox 45">
              <a:extLst>
                <a:ext uri="{FF2B5EF4-FFF2-40B4-BE49-F238E27FC236}">
                  <a16:creationId xmlns:a16="http://schemas.microsoft.com/office/drawing/2014/main" id="{C6FF1AF0-8C81-3460-C591-9E988E196D89}"/>
                </a:ext>
              </a:extLst>
            </p:cNvPr>
            <p:cNvSpPr txBox="1"/>
            <p:nvPr/>
          </p:nvSpPr>
          <p:spPr>
            <a:xfrm>
              <a:off x="622287" y="4261148"/>
              <a:ext cx="3118941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20"/>
                </a:lnSpc>
              </a:pPr>
              <a:r>
                <a:rPr lang="ru-RU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Доп. принадлежности и стирка</a:t>
              </a:r>
            </a:p>
            <a:p>
              <a:pPr algn="l">
                <a:lnSpc>
                  <a:spcPts val="1420"/>
                </a:lnSpc>
              </a:pPr>
              <a:r>
                <a:rPr lang="ru-RU" sz="110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1 стик/капсула порошка — предоставляется платно 150 ₽</a:t>
              </a:r>
              <a:r>
                <a:rPr lang="en-US" sz="110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.</a:t>
              </a:r>
              <a:endParaRPr lang="ru-RU" sz="1109" dirty="0">
                <a:solidFill>
                  <a:srgbClr val="000000"/>
                </a:solidFill>
                <a:latin typeface="Circe" panose="020B0502020203020203" pitchFamily="34" charset="-52"/>
                <a:ea typeface="Circe Bold"/>
                <a:cs typeface="Circe Bold"/>
                <a:sym typeface="Circe Bold"/>
              </a:endParaRP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51722E5E-3F23-0466-4766-217E1DCA2303}"/>
              </a:ext>
            </a:extLst>
          </p:cNvPr>
          <p:cNvGrpSpPr/>
          <p:nvPr/>
        </p:nvGrpSpPr>
        <p:grpSpPr>
          <a:xfrm>
            <a:off x="4126829" y="-315799"/>
            <a:ext cx="2468828" cy="6342261"/>
            <a:chOff x="4126829" y="-315799"/>
            <a:chExt cx="2468828" cy="6342261"/>
          </a:xfrm>
        </p:grpSpPr>
        <p:grpSp>
          <p:nvGrpSpPr>
            <p:cNvPr id="35" name="Group 2">
              <a:extLst>
                <a:ext uri="{FF2B5EF4-FFF2-40B4-BE49-F238E27FC236}">
                  <a16:creationId xmlns:a16="http://schemas.microsoft.com/office/drawing/2014/main" id="{C932652A-8395-2C1D-AC20-6503286FAE94}"/>
                </a:ext>
              </a:extLst>
            </p:cNvPr>
            <p:cNvGrpSpPr/>
            <p:nvPr/>
          </p:nvGrpSpPr>
          <p:grpSpPr>
            <a:xfrm>
              <a:off x="4430221" y="-315799"/>
              <a:ext cx="1842750" cy="4095799"/>
              <a:chOff x="0" y="0"/>
              <a:chExt cx="660400" cy="1467842"/>
            </a:xfrm>
          </p:grpSpPr>
          <p:sp>
            <p:nvSpPr>
              <p:cNvPr id="36" name="Freeform 3">
                <a:extLst>
                  <a:ext uri="{FF2B5EF4-FFF2-40B4-BE49-F238E27FC236}">
                    <a16:creationId xmlns:a16="http://schemas.microsoft.com/office/drawing/2014/main" id="{1A8E6E7E-AF35-5BF5-6C76-7C08D7EA93CC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1467842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1467842">
                    <a:moveTo>
                      <a:pt x="220252" y="1448773"/>
                    </a:moveTo>
                    <a:cubicBezTo>
                      <a:pt x="254109" y="1460287"/>
                      <a:pt x="292600" y="1467842"/>
                      <a:pt x="330378" y="1467842"/>
                    </a:cubicBezTo>
                    <a:cubicBezTo>
                      <a:pt x="368157" y="1467842"/>
                      <a:pt x="404509" y="1461365"/>
                      <a:pt x="438009" y="1449851"/>
                    </a:cubicBezTo>
                    <a:cubicBezTo>
                      <a:pt x="438723" y="1449492"/>
                      <a:pt x="439435" y="1449492"/>
                      <a:pt x="440148" y="1449132"/>
                    </a:cubicBezTo>
                    <a:cubicBezTo>
                      <a:pt x="565955" y="1403077"/>
                      <a:pt x="658618" y="1281463"/>
                      <a:pt x="660400" y="1124790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23955"/>
                    </a:lnTo>
                    <a:cubicBezTo>
                      <a:pt x="1782" y="1282182"/>
                      <a:pt x="93019" y="1403797"/>
                      <a:pt x="220252" y="1448773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TextBox 4">
                <a:extLst>
                  <a:ext uri="{FF2B5EF4-FFF2-40B4-BE49-F238E27FC236}">
                    <a16:creationId xmlns:a16="http://schemas.microsoft.com/office/drawing/2014/main" id="{23B68609-793E-5FC6-3715-031ACC83482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660400" cy="13694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38" name="Group 5">
              <a:extLst>
                <a:ext uri="{FF2B5EF4-FFF2-40B4-BE49-F238E27FC236}">
                  <a16:creationId xmlns:a16="http://schemas.microsoft.com/office/drawing/2014/main" id="{F29F1B5A-FD87-FFA1-2467-15E496CB6B39}"/>
                </a:ext>
              </a:extLst>
            </p:cNvPr>
            <p:cNvGrpSpPr/>
            <p:nvPr/>
          </p:nvGrpSpPr>
          <p:grpSpPr>
            <a:xfrm>
              <a:off x="5011282" y="5875934"/>
              <a:ext cx="669436" cy="150528"/>
              <a:chOff x="0" y="0"/>
              <a:chExt cx="892582" cy="200704"/>
            </a:xfrm>
          </p:grpSpPr>
          <p:grpSp>
            <p:nvGrpSpPr>
              <p:cNvPr id="39" name="Group 6">
                <a:extLst>
                  <a:ext uri="{FF2B5EF4-FFF2-40B4-BE49-F238E27FC236}">
                    <a16:creationId xmlns:a16="http://schemas.microsoft.com/office/drawing/2014/main" id="{5EFD69EF-5996-05CE-847A-FEBC0002039D}"/>
                  </a:ext>
                </a:extLst>
              </p:cNvPr>
              <p:cNvGrpSpPr/>
              <p:nvPr/>
            </p:nvGrpSpPr>
            <p:grpSpPr>
              <a:xfrm>
                <a:off x="340404" y="0"/>
                <a:ext cx="200704" cy="200704"/>
                <a:chOff x="0" y="0"/>
                <a:chExt cx="812800" cy="812800"/>
              </a:xfrm>
            </p:grpSpPr>
            <p:sp>
              <p:nvSpPr>
                <p:cNvPr id="46" name="Freeform 7">
                  <a:extLst>
                    <a:ext uri="{FF2B5EF4-FFF2-40B4-BE49-F238E27FC236}">
                      <a16:creationId xmlns:a16="http://schemas.microsoft.com/office/drawing/2014/main" id="{24BABB85-D64C-8CA9-B992-AEEFBD58698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9050" cap="sq">
                  <a:solidFill>
                    <a:srgbClr val="76757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7" name="TextBox 8">
                  <a:extLst>
                    <a:ext uri="{FF2B5EF4-FFF2-40B4-BE49-F238E27FC236}">
                      <a16:creationId xmlns:a16="http://schemas.microsoft.com/office/drawing/2014/main" id="{2EFC22F0-53C3-922E-0110-EFCE96F0FD22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grpSp>
            <p:nvGrpSpPr>
              <p:cNvPr id="40" name="Group 9">
                <a:extLst>
                  <a:ext uri="{FF2B5EF4-FFF2-40B4-BE49-F238E27FC236}">
                    <a16:creationId xmlns:a16="http://schemas.microsoft.com/office/drawing/2014/main" id="{3D2826C8-522D-5168-975E-9E4251570036}"/>
                  </a:ext>
                </a:extLst>
              </p:cNvPr>
              <p:cNvGrpSpPr/>
              <p:nvPr/>
            </p:nvGrpSpPr>
            <p:grpSpPr>
              <a:xfrm>
                <a:off x="691878" y="0"/>
                <a:ext cx="200704" cy="200704"/>
                <a:chOff x="0" y="0"/>
                <a:chExt cx="812800" cy="812800"/>
              </a:xfrm>
            </p:grpSpPr>
            <p:sp>
              <p:nvSpPr>
                <p:cNvPr id="44" name="Freeform 10">
                  <a:extLst>
                    <a:ext uri="{FF2B5EF4-FFF2-40B4-BE49-F238E27FC236}">
                      <a16:creationId xmlns:a16="http://schemas.microsoft.com/office/drawing/2014/main" id="{54EFC456-4C60-592C-3C35-E54B280B802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9050" cap="sq">
                  <a:solidFill>
                    <a:srgbClr val="76757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5" name="TextBox 11">
                  <a:extLst>
                    <a:ext uri="{FF2B5EF4-FFF2-40B4-BE49-F238E27FC236}">
                      <a16:creationId xmlns:a16="http://schemas.microsoft.com/office/drawing/2014/main" id="{5EC84F02-00B3-1D8D-D69D-AF885BAAA190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grpSp>
            <p:nvGrpSpPr>
              <p:cNvPr id="41" name="Group 12">
                <a:extLst>
                  <a:ext uri="{FF2B5EF4-FFF2-40B4-BE49-F238E27FC236}">
                    <a16:creationId xmlns:a16="http://schemas.microsoft.com/office/drawing/2014/main" id="{9FB361CB-BF7C-4379-A262-DA12809D1A91}"/>
                  </a:ext>
                </a:extLst>
              </p:cNvPr>
              <p:cNvGrpSpPr/>
              <p:nvPr/>
            </p:nvGrpSpPr>
            <p:grpSpPr>
              <a:xfrm>
                <a:off x="0" y="0"/>
                <a:ext cx="200704" cy="200704"/>
                <a:chOff x="0" y="0"/>
                <a:chExt cx="812800" cy="812800"/>
              </a:xfrm>
            </p:grpSpPr>
            <p:sp>
              <p:nvSpPr>
                <p:cNvPr id="42" name="Freeform 13">
                  <a:extLst>
                    <a:ext uri="{FF2B5EF4-FFF2-40B4-BE49-F238E27FC236}">
                      <a16:creationId xmlns:a16="http://schemas.microsoft.com/office/drawing/2014/main" id="{6AF5D009-7DD0-C237-4E3B-4FB5A361C5B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9050" cap="sq">
                  <a:solidFill>
                    <a:srgbClr val="76757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3" name="TextBox 14">
                  <a:extLst>
                    <a:ext uri="{FF2B5EF4-FFF2-40B4-BE49-F238E27FC236}">
                      <a16:creationId xmlns:a16="http://schemas.microsoft.com/office/drawing/2014/main" id="{132DED7F-B98D-FD3F-65B4-9C5AB9C300FE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</p:grpSp>
        <p:sp>
          <p:nvSpPr>
            <p:cNvPr id="48" name="Freeform 62">
              <a:extLst>
                <a:ext uri="{FF2B5EF4-FFF2-40B4-BE49-F238E27FC236}">
                  <a16:creationId xmlns:a16="http://schemas.microsoft.com/office/drawing/2014/main" id="{2A8D7EC6-B6F7-8A18-443F-C6EECFF6957C}"/>
                </a:ext>
              </a:extLst>
            </p:cNvPr>
            <p:cNvSpPr/>
            <p:nvPr/>
          </p:nvSpPr>
          <p:spPr>
            <a:xfrm>
              <a:off x="4135860" y="1127395"/>
              <a:ext cx="2459797" cy="3428288"/>
            </a:xfrm>
            <a:custGeom>
              <a:avLst/>
              <a:gdLst/>
              <a:ahLst/>
              <a:cxnLst/>
              <a:rect l="l" t="t" r="r" b="b"/>
              <a:pathLst>
                <a:path w="2459797" h="3428288">
                  <a:moveTo>
                    <a:pt x="0" y="0"/>
                  </a:moveTo>
                  <a:lnTo>
                    <a:pt x="2459797" y="0"/>
                  </a:lnTo>
                  <a:lnTo>
                    <a:pt x="2459797" y="3428288"/>
                  </a:lnTo>
                  <a:lnTo>
                    <a:pt x="0" y="3428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9" b="-79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49" name="TextBox 68">
              <a:extLst>
                <a:ext uri="{FF2B5EF4-FFF2-40B4-BE49-F238E27FC236}">
                  <a16:creationId xmlns:a16="http://schemas.microsoft.com/office/drawing/2014/main" id="{F327399A-32DD-6126-779B-BF9BF69E5CEA}"/>
                </a:ext>
              </a:extLst>
            </p:cNvPr>
            <p:cNvSpPr txBox="1"/>
            <p:nvPr/>
          </p:nvSpPr>
          <p:spPr>
            <a:xfrm>
              <a:off x="4126829" y="4955913"/>
              <a:ext cx="2430040" cy="503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862"/>
                </a:lnSpc>
              </a:pPr>
              <a:r>
                <a:rPr lang="ru-RU" sz="20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Здесь больше, чем просто проживание</a:t>
              </a:r>
            </a:p>
          </p:txBody>
        </p:sp>
        <p:sp>
          <p:nvSpPr>
            <p:cNvPr id="50" name="TextBox 70">
              <a:extLst>
                <a:ext uri="{FF2B5EF4-FFF2-40B4-BE49-F238E27FC236}">
                  <a16:creationId xmlns:a16="http://schemas.microsoft.com/office/drawing/2014/main" id="{BE0BA7A4-8FE7-1DB8-697B-68BB0757C435}"/>
                </a:ext>
              </a:extLst>
            </p:cNvPr>
            <p:cNvSpPr txBox="1"/>
            <p:nvPr/>
          </p:nvSpPr>
          <p:spPr>
            <a:xfrm>
              <a:off x="4217596" y="308598"/>
              <a:ext cx="2256807" cy="465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ru-RU" sz="36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Услуги</a:t>
              </a:r>
              <a:endParaRPr lang="en-US" sz="3603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endParaRPr>
            </a:p>
          </p:txBody>
        </p:sp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F007F748-A734-BE3D-E769-E77D83BE1AD9}"/>
              </a:ext>
            </a:extLst>
          </p:cNvPr>
          <p:cNvGrpSpPr/>
          <p:nvPr/>
        </p:nvGrpSpPr>
        <p:grpSpPr>
          <a:xfrm>
            <a:off x="7276451" y="577850"/>
            <a:ext cx="3183191" cy="5262738"/>
            <a:chOff x="7379884" y="570540"/>
            <a:chExt cx="3183191" cy="5262738"/>
          </a:xfrm>
        </p:grpSpPr>
        <p:sp>
          <p:nvSpPr>
            <p:cNvPr id="75" name="AutoShape 46">
              <a:extLst>
                <a:ext uri="{FF2B5EF4-FFF2-40B4-BE49-F238E27FC236}">
                  <a16:creationId xmlns:a16="http://schemas.microsoft.com/office/drawing/2014/main" id="{E74734CA-D745-6AAC-12E8-A9EC6ACC1CD6}"/>
                </a:ext>
              </a:extLst>
            </p:cNvPr>
            <p:cNvSpPr/>
            <p:nvPr/>
          </p:nvSpPr>
          <p:spPr>
            <a:xfrm flipV="1">
              <a:off x="8044254" y="4137051"/>
              <a:ext cx="1417186" cy="0"/>
            </a:xfrm>
            <a:prstGeom prst="line">
              <a:avLst/>
            </a:prstGeom>
            <a:ln w="1905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76" name="Group 47">
              <a:extLst>
                <a:ext uri="{FF2B5EF4-FFF2-40B4-BE49-F238E27FC236}">
                  <a16:creationId xmlns:a16="http://schemas.microsoft.com/office/drawing/2014/main" id="{D2709D1E-A3A9-AE01-B4EB-1E7BDE893AB0}"/>
                </a:ext>
              </a:extLst>
            </p:cNvPr>
            <p:cNvGrpSpPr/>
            <p:nvPr/>
          </p:nvGrpSpPr>
          <p:grpSpPr>
            <a:xfrm>
              <a:off x="7379884" y="1481577"/>
              <a:ext cx="664370" cy="664370"/>
              <a:chOff x="0" y="0"/>
              <a:chExt cx="812800" cy="812800"/>
            </a:xfrm>
          </p:grpSpPr>
          <p:sp>
            <p:nvSpPr>
              <p:cNvPr id="77" name="Freeform 48">
                <a:extLst>
                  <a:ext uri="{FF2B5EF4-FFF2-40B4-BE49-F238E27FC236}">
                    <a16:creationId xmlns:a16="http://schemas.microsoft.com/office/drawing/2014/main" id="{C8D9FD35-B7E4-569D-EE87-0EB7C1F4511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" name="TextBox 49">
                <a:extLst>
                  <a:ext uri="{FF2B5EF4-FFF2-40B4-BE49-F238E27FC236}">
                    <a16:creationId xmlns:a16="http://schemas.microsoft.com/office/drawing/2014/main" id="{C443DE2F-B6B5-40D8-EC04-ACD103CE8EB2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79" name="Group 50">
              <a:extLst>
                <a:ext uri="{FF2B5EF4-FFF2-40B4-BE49-F238E27FC236}">
                  <a16:creationId xmlns:a16="http://schemas.microsoft.com/office/drawing/2014/main" id="{2FBCD99F-9E66-ED87-D641-FDA17E20B04D}"/>
                </a:ext>
              </a:extLst>
            </p:cNvPr>
            <p:cNvGrpSpPr/>
            <p:nvPr/>
          </p:nvGrpSpPr>
          <p:grpSpPr>
            <a:xfrm>
              <a:off x="7379884" y="570540"/>
              <a:ext cx="664370" cy="664370"/>
              <a:chOff x="0" y="0"/>
              <a:chExt cx="812800" cy="812800"/>
            </a:xfrm>
          </p:grpSpPr>
          <p:sp>
            <p:nvSpPr>
              <p:cNvPr id="80" name="Freeform 51">
                <a:extLst>
                  <a:ext uri="{FF2B5EF4-FFF2-40B4-BE49-F238E27FC236}">
                    <a16:creationId xmlns:a16="http://schemas.microsoft.com/office/drawing/2014/main" id="{2E5CF0F2-9074-8B4E-7377-24767E3E82E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TextBox 52">
                <a:extLst>
                  <a:ext uri="{FF2B5EF4-FFF2-40B4-BE49-F238E27FC236}">
                    <a16:creationId xmlns:a16="http://schemas.microsoft.com/office/drawing/2014/main" id="{D8D52FF4-B4B3-7D44-E1A8-B492E29CBC15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82" name="Group 53">
              <a:extLst>
                <a:ext uri="{FF2B5EF4-FFF2-40B4-BE49-F238E27FC236}">
                  <a16:creationId xmlns:a16="http://schemas.microsoft.com/office/drawing/2014/main" id="{FE7D7820-4E10-16D6-AC64-5946CB04CC2E}"/>
                </a:ext>
              </a:extLst>
            </p:cNvPr>
            <p:cNvGrpSpPr/>
            <p:nvPr/>
          </p:nvGrpSpPr>
          <p:grpSpPr>
            <a:xfrm>
              <a:off x="7379884" y="2392549"/>
              <a:ext cx="664370" cy="664370"/>
              <a:chOff x="0" y="0"/>
              <a:chExt cx="812800" cy="812800"/>
            </a:xfrm>
          </p:grpSpPr>
          <p:sp>
            <p:nvSpPr>
              <p:cNvPr id="83" name="Freeform 54">
                <a:extLst>
                  <a:ext uri="{FF2B5EF4-FFF2-40B4-BE49-F238E27FC236}">
                    <a16:creationId xmlns:a16="http://schemas.microsoft.com/office/drawing/2014/main" id="{CBB3B1D6-EDF0-7F39-60CA-6B85823E5B3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TextBox 55">
                <a:extLst>
                  <a:ext uri="{FF2B5EF4-FFF2-40B4-BE49-F238E27FC236}">
                    <a16:creationId xmlns:a16="http://schemas.microsoft.com/office/drawing/2014/main" id="{47E26DA9-DE98-AA80-E923-5863BA0A3E2A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85" name="Group 56">
              <a:extLst>
                <a:ext uri="{FF2B5EF4-FFF2-40B4-BE49-F238E27FC236}">
                  <a16:creationId xmlns:a16="http://schemas.microsoft.com/office/drawing/2014/main" id="{F2BAA899-693C-119F-4D63-78060918D96B}"/>
                </a:ext>
              </a:extLst>
            </p:cNvPr>
            <p:cNvGrpSpPr/>
            <p:nvPr/>
          </p:nvGrpSpPr>
          <p:grpSpPr>
            <a:xfrm>
              <a:off x="7379884" y="3283809"/>
              <a:ext cx="664370" cy="664370"/>
              <a:chOff x="0" y="0"/>
              <a:chExt cx="812800" cy="812800"/>
            </a:xfrm>
          </p:grpSpPr>
          <p:sp>
            <p:nvSpPr>
              <p:cNvPr id="86" name="Freeform 57">
                <a:extLst>
                  <a:ext uri="{FF2B5EF4-FFF2-40B4-BE49-F238E27FC236}">
                    <a16:creationId xmlns:a16="http://schemas.microsoft.com/office/drawing/2014/main" id="{8B04B0BB-AFC0-BC12-BE3B-5195B074643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" name="TextBox 58">
                <a:extLst>
                  <a:ext uri="{FF2B5EF4-FFF2-40B4-BE49-F238E27FC236}">
                    <a16:creationId xmlns:a16="http://schemas.microsoft.com/office/drawing/2014/main" id="{380A6C6A-EDD5-FD6B-AECD-FF537557468D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sp>
          <p:nvSpPr>
            <p:cNvPr id="88" name="AutoShape 59">
              <a:extLst>
                <a:ext uri="{FF2B5EF4-FFF2-40B4-BE49-F238E27FC236}">
                  <a16:creationId xmlns:a16="http://schemas.microsoft.com/office/drawing/2014/main" id="{2F399C55-20B5-D30F-81EE-BC125782DFD7}"/>
                </a:ext>
              </a:extLst>
            </p:cNvPr>
            <p:cNvSpPr/>
            <p:nvPr/>
          </p:nvSpPr>
          <p:spPr>
            <a:xfrm>
              <a:off x="8044254" y="2230690"/>
              <a:ext cx="1417186" cy="0"/>
            </a:xfrm>
            <a:prstGeom prst="line">
              <a:avLst/>
            </a:prstGeom>
            <a:ln w="1905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AutoShape 60">
              <a:extLst>
                <a:ext uri="{FF2B5EF4-FFF2-40B4-BE49-F238E27FC236}">
                  <a16:creationId xmlns:a16="http://schemas.microsoft.com/office/drawing/2014/main" id="{A3D9BF46-7A49-F797-4D36-43BD855308BD}"/>
                </a:ext>
              </a:extLst>
            </p:cNvPr>
            <p:cNvSpPr/>
            <p:nvPr/>
          </p:nvSpPr>
          <p:spPr>
            <a:xfrm>
              <a:off x="8044254" y="1319652"/>
              <a:ext cx="1417186" cy="0"/>
            </a:xfrm>
            <a:prstGeom prst="line">
              <a:avLst/>
            </a:prstGeom>
            <a:ln w="1905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AutoShape 61">
              <a:extLst>
                <a:ext uri="{FF2B5EF4-FFF2-40B4-BE49-F238E27FC236}">
                  <a16:creationId xmlns:a16="http://schemas.microsoft.com/office/drawing/2014/main" id="{65C4C685-3B2F-36E8-3567-9E08A6BA0F83}"/>
                </a:ext>
              </a:extLst>
            </p:cNvPr>
            <p:cNvSpPr/>
            <p:nvPr/>
          </p:nvSpPr>
          <p:spPr>
            <a:xfrm>
              <a:off x="8044254" y="3214398"/>
              <a:ext cx="1417186" cy="0"/>
            </a:xfrm>
            <a:prstGeom prst="line">
              <a:avLst/>
            </a:prstGeom>
            <a:ln w="1905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TextBox 64">
              <a:extLst>
                <a:ext uri="{FF2B5EF4-FFF2-40B4-BE49-F238E27FC236}">
                  <a16:creationId xmlns:a16="http://schemas.microsoft.com/office/drawing/2014/main" id="{DBB34263-1106-BF65-81E3-5EB2CEE4C983}"/>
                </a:ext>
              </a:extLst>
            </p:cNvPr>
            <p:cNvSpPr txBox="1"/>
            <p:nvPr/>
          </p:nvSpPr>
          <p:spPr>
            <a:xfrm>
              <a:off x="7748816" y="3376323"/>
              <a:ext cx="2376153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75"/>
                </a:lnSpc>
              </a:pPr>
              <a:r>
                <a:rPr lang="ru-RU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Хранение багажа</a:t>
              </a:r>
            </a:p>
            <a:p>
              <a:pPr algn="l">
                <a:lnSpc>
                  <a:spcPts val="1375"/>
                </a:lnSpc>
              </a:pPr>
              <a:r>
                <a:rPr lang="ru-RU" sz="110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Вы можете оставить багаж на 1 сутки на 1 этаже</a:t>
              </a:r>
            </a:p>
          </p:txBody>
        </p:sp>
        <p:sp>
          <p:nvSpPr>
            <p:cNvPr id="93" name="TextBox 65">
              <a:extLst>
                <a:ext uri="{FF2B5EF4-FFF2-40B4-BE49-F238E27FC236}">
                  <a16:creationId xmlns:a16="http://schemas.microsoft.com/office/drawing/2014/main" id="{D14D7145-64A5-1DC1-1E19-EF07719A5EA5}"/>
                </a:ext>
              </a:extLst>
            </p:cNvPr>
            <p:cNvSpPr txBox="1"/>
            <p:nvPr/>
          </p:nvSpPr>
          <p:spPr>
            <a:xfrm>
              <a:off x="7748816" y="2433348"/>
              <a:ext cx="2721744" cy="50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31"/>
                </a:lnSpc>
              </a:pPr>
              <a:r>
                <a:rPr lang="ru-RU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Курьерская доставка</a:t>
              </a:r>
            </a:p>
            <a:p>
              <a:pPr algn="l">
                <a:lnSpc>
                  <a:spcPts val="1331"/>
                </a:lnSpc>
              </a:pPr>
              <a:r>
                <a:rPr lang="ru-RU" sz="110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Курьеры не проходят на этажи. </a:t>
              </a:r>
            </a:p>
            <a:p>
              <a:pPr algn="l">
                <a:lnSpc>
                  <a:spcPts val="1331"/>
                </a:lnSpc>
              </a:pPr>
              <a:r>
                <a:rPr lang="ru-RU" sz="110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Заказ можно получить в лобби.</a:t>
              </a:r>
            </a:p>
          </p:txBody>
        </p:sp>
        <p:sp>
          <p:nvSpPr>
            <p:cNvPr id="94" name="TextBox 66">
              <a:extLst>
                <a:ext uri="{FF2B5EF4-FFF2-40B4-BE49-F238E27FC236}">
                  <a16:creationId xmlns:a16="http://schemas.microsoft.com/office/drawing/2014/main" id="{2EADED7D-2F1F-BFC7-BA81-EEFD53C9CA4C}"/>
                </a:ext>
              </a:extLst>
            </p:cNvPr>
            <p:cNvSpPr txBox="1"/>
            <p:nvPr/>
          </p:nvSpPr>
          <p:spPr>
            <a:xfrm>
              <a:off x="7712069" y="601426"/>
              <a:ext cx="2376153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75"/>
                </a:lnSpc>
              </a:pPr>
              <a:r>
                <a:rPr lang="ru-RU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Уборка</a:t>
              </a:r>
            </a:p>
            <a:p>
              <a:pPr algn="l">
                <a:lnSpc>
                  <a:spcPts val="1375"/>
                </a:lnSpc>
              </a:pPr>
              <a:r>
                <a:rPr lang="ru-RU" sz="110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Ежедневно до 18:00. </a:t>
              </a:r>
            </a:p>
            <a:p>
              <a:pPr algn="l">
                <a:lnSpc>
                  <a:spcPts val="1375"/>
                </a:lnSpc>
              </a:pPr>
              <a:r>
                <a:rPr lang="ru-RU" sz="110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Замена белья — на 3-й день.</a:t>
              </a:r>
            </a:p>
          </p:txBody>
        </p:sp>
        <p:sp>
          <p:nvSpPr>
            <p:cNvPr id="95" name="TextBox 67">
              <a:extLst>
                <a:ext uri="{FF2B5EF4-FFF2-40B4-BE49-F238E27FC236}">
                  <a16:creationId xmlns:a16="http://schemas.microsoft.com/office/drawing/2014/main" id="{D3172924-4B50-CC1E-164F-15A34AC48C6B}"/>
                </a:ext>
              </a:extLst>
            </p:cNvPr>
            <p:cNvSpPr txBox="1"/>
            <p:nvPr/>
          </p:nvSpPr>
          <p:spPr>
            <a:xfrm>
              <a:off x="7712069" y="1571301"/>
              <a:ext cx="2851006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86"/>
                </a:lnSpc>
              </a:pPr>
              <a:r>
                <a:rPr lang="ru-RU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Аренда инвентаря</a:t>
              </a:r>
            </a:p>
            <a:p>
              <a:pPr algn="l">
                <a:lnSpc>
                  <a:spcPts val="1386"/>
                </a:lnSpc>
              </a:pPr>
              <a:r>
                <a:rPr lang="ru-RU" sz="1109" dirty="0">
                  <a:solidFill>
                    <a:srgbClr val="000000"/>
                  </a:solidFill>
                  <a:latin typeface="Circe" panose="020B0502020203020203" pitchFamily="34" charset="-52"/>
                  <a:ea typeface="Circe Bold"/>
                  <a:cs typeface="Circe Bold"/>
                  <a:sym typeface="Circe Bold"/>
                </a:rPr>
                <a:t>Вазы, детские принадлежности — по запросу на ресепшене</a:t>
              </a:r>
            </a:p>
          </p:txBody>
        </p:sp>
        <p:sp>
          <p:nvSpPr>
            <p:cNvPr id="96" name="TextBox 71">
              <a:extLst>
                <a:ext uri="{FF2B5EF4-FFF2-40B4-BE49-F238E27FC236}">
                  <a16:creationId xmlns:a16="http://schemas.microsoft.com/office/drawing/2014/main" id="{E2A3546F-DB04-AB51-A7DA-FEB1570F1F2E}"/>
                </a:ext>
              </a:extLst>
            </p:cNvPr>
            <p:cNvSpPr txBox="1"/>
            <p:nvPr/>
          </p:nvSpPr>
          <p:spPr>
            <a:xfrm>
              <a:off x="7779318" y="4424139"/>
              <a:ext cx="2654703" cy="664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3"/>
                </a:lnSpc>
              </a:pPr>
              <a:r>
                <a:rPr lang="ru-RU" sz="27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Электронная книга гостя</a:t>
              </a:r>
            </a:p>
          </p:txBody>
        </p:sp>
        <p:sp>
          <p:nvSpPr>
            <p:cNvPr id="97" name="TextBox 72">
              <a:extLst>
                <a:ext uri="{FF2B5EF4-FFF2-40B4-BE49-F238E27FC236}">
                  <a16:creationId xmlns:a16="http://schemas.microsoft.com/office/drawing/2014/main" id="{17D19119-F4CB-FFA3-FA4D-1D346DF8A703}"/>
                </a:ext>
              </a:extLst>
            </p:cNvPr>
            <p:cNvSpPr txBox="1"/>
            <p:nvPr/>
          </p:nvSpPr>
          <p:spPr>
            <a:xfrm>
              <a:off x="7841076" y="5304928"/>
              <a:ext cx="2396687" cy="528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12"/>
                </a:lnSpc>
              </a:pPr>
              <a:r>
                <a:rPr lang="en-US" sz="900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Полный</a:t>
              </a:r>
              <a:r>
                <a:rPr lang="en-US" sz="9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перечень</a:t>
              </a:r>
              <a:r>
                <a:rPr lang="en-US" sz="9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услуг</a:t>
              </a:r>
              <a:r>
                <a:rPr lang="en-US" sz="9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и </a:t>
              </a:r>
              <a:r>
                <a:rPr lang="en-US" sz="900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важная</a:t>
              </a:r>
              <a:r>
                <a:rPr lang="en-US" sz="9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информация</a:t>
              </a:r>
              <a:endParaRPr lang="en-US" sz="900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endParaRPr>
            </a:p>
            <a:p>
              <a:pPr algn="ctr">
                <a:lnSpc>
                  <a:spcPts val="1412"/>
                </a:lnSpc>
              </a:pPr>
              <a:r>
                <a:rPr lang="en-US" sz="9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— в </a:t>
              </a:r>
              <a:r>
                <a:rPr lang="en-US" sz="900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электронной</a:t>
              </a:r>
              <a:r>
                <a:rPr lang="en-US" sz="9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книге</a:t>
              </a:r>
              <a:r>
                <a:rPr lang="en-US" sz="9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гостя</a:t>
              </a:r>
              <a:r>
                <a:rPr lang="en-US" sz="9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</a:t>
              </a:r>
            </a:p>
            <a:p>
              <a:pPr algn="ctr">
                <a:lnSpc>
                  <a:spcPts val="1412"/>
                </a:lnSpc>
              </a:pPr>
              <a:r>
                <a:rPr lang="en-US" sz="9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(</a:t>
              </a:r>
              <a:r>
                <a:rPr lang="en-US" sz="900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сканируйте</a:t>
              </a:r>
              <a:r>
                <a:rPr lang="en-US" sz="9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QR-код ниже)</a:t>
              </a:r>
            </a:p>
          </p:txBody>
        </p:sp>
      </p:grpSp>
      <p:sp>
        <p:nvSpPr>
          <p:cNvPr id="63" name="TextBox 70">
            <a:extLst>
              <a:ext uri="{FF2B5EF4-FFF2-40B4-BE49-F238E27FC236}">
                <a16:creationId xmlns:a16="http://schemas.microsoft.com/office/drawing/2014/main" id="{335DF811-F18E-35CC-C1D1-AD055EE80637}"/>
              </a:ext>
            </a:extLst>
          </p:cNvPr>
          <p:cNvSpPr txBox="1"/>
          <p:nvPr/>
        </p:nvSpPr>
        <p:spPr>
          <a:xfrm>
            <a:off x="3921348" y="6359837"/>
            <a:ext cx="3043267" cy="80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</a:pPr>
            <a:r>
              <a:rPr lang="ru-RU" sz="910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rPr>
              <a:t>Завтраки, цветы, экскурсии —  </a:t>
            </a:r>
          </a:p>
          <a:p>
            <a:pPr algn="ctr">
              <a:lnSpc>
                <a:spcPts val="1556"/>
              </a:lnSpc>
            </a:pPr>
            <a:r>
              <a:rPr lang="ru-RU" sz="910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rPr>
              <a:t>Живите как дома, отдыхайте как в отеле.  </a:t>
            </a:r>
          </a:p>
          <a:p>
            <a:pPr algn="ctr">
              <a:lnSpc>
                <a:spcPts val="1556"/>
              </a:lnSpc>
            </a:pPr>
            <a:r>
              <a:rPr lang="ru-RU" sz="910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rPr>
              <a:t>Всё, что нужно, — под рукой.  </a:t>
            </a:r>
          </a:p>
          <a:p>
            <a:pPr algn="ctr">
              <a:lnSpc>
                <a:spcPts val="1556"/>
              </a:lnSpc>
            </a:pPr>
            <a:r>
              <a:rPr lang="ru-RU" sz="910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rPr>
              <a:t>Что-то нужно? Просто спросите на ресепшене!</a:t>
            </a:r>
            <a:endParaRPr lang="en-US" sz="910" dirty="0">
              <a:solidFill>
                <a:srgbClr val="000000"/>
              </a:solidFill>
              <a:latin typeface="Circe"/>
              <a:ea typeface="Circe"/>
              <a:cs typeface="Circe"/>
              <a:sym typeface="Circe"/>
            </a:endParaRPr>
          </a:p>
        </p:txBody>
      </p:sp>
      <p:sp>
        <p:nvSpPr>
          <p:cNvPr id="64" name="Freeform 60">
            <a:extLst>
              <a:ext uri="{FF2B5EF4-FFF2-40B4-BE49-F238E27FC236}">
                <a16:creationId xmlns:a16="http://schemas.microsoft.com/office/drawing/2014/main" id="{DF65C48D-5BD7-C0F5-BBE7-8D0FA6989CC9}"/>
              </a:ext>
            </a:extLst>
          </p:cNvPr>
          <p:cNvSpPr/>
          <p:nvPr/>
        </p:nvSpPr>
        <p:spPr>
          <a:xfrm>
            <a:off x="8481139" y="6037009"/>
            <a:ext cx="1050231" cy="1050231"/>
          </a:xfrm>
          <a:custGeom>
            <a:avLst/>
            <a:gdLst/>
            <a:ahLst/>
            <a:cxnLst/>
            <a:rect l="l" t="t" r="r" b="b"/>
            <a:pathLst>
              <a:path w="1050231" h="1050231">
                <a:moveTo>
                  <a:pt x="0" y="0"/>
                </a:moveTo>
                <a:lnTo>
                  <a:pt x="1050231" y="0"/>
                </a:lnTo>
                <a:lnTo>
                  <a:pt x="1050231" y="1050230"/>
                </a:lnTo>
                <a:lnTo>
                  <a:pt x="0" y="1050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" name="Freeform 63">
            <a:extLst>
              <a:ext uri="{FF2B5EF4-FFF2-40B4-BE49-F238E27FC236}">
                <a16:creationId xmlns:a16="http://schemas.microsoft.com/office/drawing/2014/main" id="{D8C0972F-70F3-ED01-CA55-121D2C90DB85}"/>
              </a:ext>
            </a:extLst>
          </p:cNvPr>
          <p:cNvSpPr/>
          <p:nvPr/>
        </p:nvSpPr>
        <p:spPr>
          <a:xfrm>
            <a:off x="8526660" y="6085548"/>
            <a:ext cx="953151" cy="953151"/>
          </a:xfrm>
          <a:custGeom>
            <a:avLst/>
            <a:gdLst/>
            <a:ahLst/>
            <a:cxnLst/>
            <a:rect l="l" t="t" r="r" b="b"/>
            <a:pathLst>
              <a:path w="1050231" h="1050231">
                <a:moveTo>
                  <a:pt x="0" y="0"/>
                </a:moveTo>
                <a:lnTo>
                  <a:pt x="1050231" y="0"/>
                </a:lnTo>
                <a:lnTo>
                  <a:pt x="1050231" y="1050230"/>
                </a:lnTo>
                <a:lnTo>
                  <a:pt x="0" y="1050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648984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682FFE1-D131-B4C4-79D0-A703AB8F6157}"/>
              </a:ext>
            </a:extLst>
          </p:cNvPr>
          <p:cNvGrpSpPr/>
          <p:nvPr/>
        </p:nvGrpSpPr>
        <p:grpSpPr>
          <a:xfrm>
            <a:off x="88900" y="2025650"/>
            <a:ext cx="3437775" cy="2735778"/>
            <a:chOff x="108000" y="1898877"/>
            <a:chExt cx="3437775" cy="2735778"/>
          </a:xfrm>
        </p:grpSpPr>
        <p:grpSp>
          <p:nvGrpSpPr>
            <p:cNvPr id="3" name="Group 11">
              <a:extLst>
                <a:ext uri="{FF2B5EF4-FFF2-40B4-BE49-F238E27FC236}">
                  <a16:creationId xmlns:a16="http://schemas.microsoft.com/office/drawing/2014/main" id="{6582FEF0-A87E-3FD0-AC60-4B97D0A12076}"/>
                </a:ext>
              </a:extLst>
            </p:cNvPr>
            <p:cNvGrpSpPr/>
            <p:nvPr/>
          </p:nvGrpSpPr>
          <p:grpSpPr>
            <a:xfrm>
              <a:off x="108000" y="1898877"/>
              <a:ext cx="3437775" cy="2142431"/>
              <a:chOff x="0" y="95250"/>
              <a:chExt cx="4583700" cy="2856574"/>
            </a:xfrm>
          </p:grpSpPr>
          <p:grpSp>
            <p:nvGrpSpPr>
              <p:cNvPr id="4" name="Group 12">
                <a:extLst>
                  <a:ext uri="{FF2B5EF4-FFF2-40B4-BE49-F238E27FC236}">
                    <a16:creationId xmlns:a16="http://schemas.microsoft.com/office/drawing/2014/main" id="{E722D089-FF19-05F3-C8BB-8D007E4D6D5A}"/>
                  </a:ext>
                </a:extLst>
              </p:cNvPr>
              <p:cNvGrpSpPr/>
              <p:nvPr/>
            </p:nvGrpSpPr>
            <p:grpSpPr>
              <a:xfrm>
                <a:off x="0" y="2226112"/>
                <a:ext cx="4583700" cy="725712"/>
                <a:chOff x="0" y="-28575"/>
                <a:chExt cx="1309133" cy="207268"/>
              </a:xfrm>
            </p:grpSpPr>
            <p:sp>
              <p:nvSpPr>
                <p:cNvPr id="10" name="Freeform 13">
                  <a:extLst>
                    <a:ext uri="{FF2B5EF4-FFF2-40B4-BE49-F238E27FC236}">
                      <a16:creationId xmlns:a16="http://schemas.microsoft.com/office/drawing/2014/main" id="{21FC1713-DF76-390C-8C8C-12C5D0F43C2A}"/>
                    </a:ext>
                  </a:extLst>
                </p:cNvPr>
                <p:cNvSpPr/>
                <p:nvPr/>
              </p:nvSpPr>
              <p:spPr>
                <a:xfrm>
                  <a:off x="58035" y="0"/>
                  <a:ext cx="1160704" cy="178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133" h="178693">
                      <a:moveTo>
                        <a:pt x="0" y="0"/>
                      </a:moveTo>
                      <a:lnTo>
                        <a:pt x="1309133" y="0"/>
                      </a:lnTo>
                      <a:lnTo>
                        <a:pt x="1309133" y="178693"/>
                      </a:lnTo>
                      <a:lnTo>
                        <a:pt x="0" y="178693"/>
                      </a:lnTo>
                      <a:close/>
                    </a:path>
                  </a:pathLst>
                </a:custGeom>
                <a:solidFill>
                  <a:srgbClr val="EBE7E7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1" name="TextBox 14">
                  <a:extLst>
                    <a:ext uri="{FF2B5EF4-FFF2-40B4-BE49-F238E27FC236}">
                      <a16:creationId xmlns:a16="http://schemas.microsoft.com/office/drawing/2014/main" id="{5B6420EB-E6FE-2DCC-F028-87ABBF936403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309133" cy="207268"/>
                </a:xfrm>
                <a:prstGeom prst="rect">
                  <a:avLst/>
                </a:prstGeom>
              </p:spPr>
              <p:txBody>
                <a:bodyPr lIns="47808" tIns="47808" rIns="47808" bIns="47808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grpSp>
            <p:nvGrpSpPr>
              <p:cNvPr id="5" name="Group 15">
                <a:extLst>
                  <a:ext uri="{FF2B5EF4-FFF2-40B4-BE49-F238E27FC236}">
                    <a16:creationId xmlns:a16="http://schemas.microsoft.com/office/drawing/2014/main" id="{B2087990-6C73-CEE5-F7F2-E1CC8AA14CBD}"/>
                  </a:ext>
                </a:extLst>
              </p:cNvPr>
              <p:cNvGrpSpPr/>
              <p:nvPr/>
            </p:nvGrpSpPr>
            <p:grpSpPr>
              <a:xfrm>
                <a:off x="0" y="1187039"/>
                <a:ext cx="4583700" cy="725712"/>
                <a:chOff x="0" y="-28575"/>
                <a:chExt cx="1309133" cy="207268"/>
              </a:xfrm>
            </p:grpSpPr>
            <p:sp>
              <p:nvSpPr>
                <p:cNvPr id="8" name="Freeform 16">
                  <a:extLst>
                    <a:ext uri="{FF2B5EF4-FFF2-40B4-BE49-F238E27FC236}">
                      <a16:creationId xmlns:a16="http://schemas.microsoft.com/office/drawing/2014/main" id="{76BA1EA6-ACE4-723E-EBEA-4A4F72F6AE8E}"/>
                    </a:ext>
                  </a:extLst>
                </p:cNvPr>
                <p:cNvSpPr/>
                <p:nvPr/>
              </p:nvSpPr>
              <p:spPr>
                <a:xfrm>
                  <a:off x="58035" y="0"/>
                  <a:ext cx="1160704" cy="178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133" h="178693">
                      <a:moveTo>
                        <a:pt x="0" y="0"/>
                      </a:moveTo>
                      <a:lnTo>
                        <a:pt x="1309133" y="0"/>
                      </a:lnTo>
                      <a:lnTo>
                        <a:pt x="1309133" y="178693"/>
                      </a:lnTo>
                      <a:lnTo>
                        <a:pt x="0" y="178693"/>
                      </a:lnTo>
                      <a:close/>
                    </a:path>
                  </a:pathLst>
                </a:custGeom>
                <a:solidFill>
                  <a:srgbClr val="EBE7E7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" name="TextBox 17">
                  <a:extLst>
                    <a:ext uri="{FF2B5EF4-FFF2-40B4-BE49-F238E27FC236}">
                      <a16:creationId xmlns:a16="http://schemas.microsoft.com/office/drawing/2014/main" id="{F5CB7D5F-50EE-00A3-9EDF-A8DD61E909D4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309133" cy="207268"/>
                </a:xfrm>
                <a:prstGeom prst="rect">
                  <a:avLst/>
                </a:prstGeom>
              </p:spPr>
              <p:txBody>
                <a:bodyPr lIns="47808" tIns="47808" rIns="47808" bIns="47808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sp>
            <p:nvSpPr>
              <p:cNvPr id="6" name="TextBox 18">
                <a:extLst>
                  <a:ext uri="{FF2B5EF4-FFF2-40B4-BE49-F238E27FC236}">
                    <a16:creationId xmlns:a16="http://schemas.microsoft.com/office/drawing/2014/main" id="{C3B6AA32-DFE2-ADFE-6C0E-59933BF62FA0}"/>
                  </a:ext>
                </a:extLst>
              </p:cNvPr>
              <p:cNvSpPr txBox="1"/>
              <p:nvPr/>
            </p:nvSpPr>
            <p:spPr>
              <a:xfrm>
                <a:off x="792687" y="95250"/>
                <a:ext cx="2950744" cy="62828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0"/>
                  </a:lnSpc>
                </a:pPr>
                <a:r>
                  <a:rPr lang="en-US" sz="3603" dirty="0">
                    <a:solidFill>
                      <a:srgbClr val="000000"/>
                    </a:solidFill>
                    <a:latin typeface="Circe"/>
                    <a:ea typeface="Circe"/>
                    <a:cs typeface="Circe"/>
                    <a:sym typeface="Circe"/>
                  </a:rPr>
                  <a:t>wi-fi</a:t>
                </a:r>
              </a:p>
            </p:txBody>
          </p:sp>
          <p:sp>
            <p:nvSpPr>
              <p:cNvPr id="7" name="TextBox 19">
                <a:extLst>
                  <a:ext uri="{FF2B5EF4-FFF2-40B4-BE49-F238E27FC236}">
                    <a16:creationId xmlns:a16="http://schemas.microsoft.com/office/drawing/2014/main" id="{C4677AA2-A896-DD88-C1EE-CC60EC2881E1}"/>
                  </a:ext>
                </a:extLst>
              </p:cNvPr>
              <p:cNvSpPr txBox="1"/>
              <p:nvPr/>
            </p:nvSpPr>
            <p:spPr>
              <a:xfrm>
                <a:off x="616879" y="1464854"/>
                <a:ext cx="3447121" cy="2920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1675"/>
                  </a:lnSpc>
                </a:pPr>
                <a:r>
                  <a:rPr lang="ru-RU" sz="1444" dirty="0">
                    <a:solidFill>
                      <a:srgbClr val="000000"/>
                    </a:solidFill>
                    <a:latin typeface="Circe"/>
                    <a:ea typeface="Circe"/>
                    <a:cs typeface="Circe"/>
                    <a:sym typeface="Circe"/>
                  </a:rPr>
                  <a:t>сеть</a:t>
                </a:r>
                <a:r>
                  <a:rPr lang="en-US" sz="1444" dirty="0">
                    <a:solidFill>
                      <a:srgbClr val="000000"/>
                    </a:solidFill>
                    <a:latin typeface="Circe"/>
                    <a:ea typeface="Circe"/>
                    <a:cs typeface="Circe"/>
                    <a:sym typeface="Circe"/>
                  </a:rPr>
                  <a:t> : ARTSTUDIO NEVSKY</a:t>
                </a:r>
              </a:p>
            </p:txBody>
          </p:sp>
        </p:grpSp>
        <p:sp>
          <p:nvSpPr>
            <p:cNvPr id="12" name="TextBox 23">
              <a:extLst>
                <a:ext uri="{FF2B5EF4-FFF2-40B4-BE49-F238E27FC236}">
                  <a16:creationId xmlns:a16="http://schemas.microsoft.com/office/drawing/2014/main" id="{B648583E-10F9-5EDB-4AA6-0B597ABBD321}"/>
                </a:ext>
              </a:extLst>
            </p:cNvPr>
            <p:cNvSpPr txBox="1"/>
            <p:nvPr/>
          </p:nvSpPr>
          <p:spPr>
            <a:xfrm>
              <a:off x="570660" y="3707776"/>
              <a:ext cx="2585340" cy="2188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670"/>
                </a:lnSpc>
              </a:pPr>
              <a:r>
                <a:rPr lang="ru-RU" sz="143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пароль</a:t>
              </a:r>
              <a:r>
                <a:rPr lang="en-US" sz="143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: </a:t>
              </a:r>
            </a:p>
          </p:txBody>
        </p:sp>
        <p:sp>
          <p:nvSpPr>
            <p:cNvPr id="13" name="TextBox 20">
              <a:extLst>
                <a:ext uri="{FF2B5EF4-FFF2-40B4-BE49-F238E27FC236}">
                  <a16:creationId xmlns:a16="http://schemas.microsoft.com/office/drawing/2014/main" id="{D05BFC3D-9BF6-EF0A-76A5-5BF7FFB5C7BB}"/>
                </a:ext>
              </a:extLst>
            </p:cNvPr>
            <p:cNvSpPr txBox="1"/>
            <p:nvPr/>
          </p:nvSpPr>
          <p:spPr>
            <a:xfrm>
              <a:off x="618768" y="4150805"/>
              <a:ext cx="2212514" cy="48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8"/>
                </a:lnSpc>
              </a:pPr>
              <a:r>
                <a:rPr lang="ru-RU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Код безопасен и уникален — </a:t>
              </a:r>
            </a:p>
            <a:p>
              <a:pPr algn="ctr">
                <a:lnSpc>
                  <a:spcPts val="2038"/>
                </a:lnSpc>
              </a:pPr>
              <a:r>
                <a:rPr lang="ru-RU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действует только для вашего номера.</a:t>
              </a:r>
            </a:p>
          </p:txBody>
        </p:sp>
      </p:grpSp>
      <p:sp>
        <p:nvSpPr>
          <p:cNvPr id="17" name="TextBox 23">
            <a:extLst>
              <a:ext uri="{FF2B5EF4-FFF2-40B4-BE49-F238E27FC236}">
                <a16:creationId xmlns:a16="http://schemas.microsoft.com/office/drawing/2014/main" id="{722296F3-31AA-BC93-A776-2E34867D1754}"/>
              </a:ext>
            </a:extLst>
          </p:cNvPr>
          <p:cNvSpPr txBox="1"/>
          <p:nvPr/>
        </p:nvSpPr>
        <p:spPr>
          <a:xfrm>
            <a:off x="825937" y="3676960"/>
            <a:ext cx="2350430" cy="39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</a:pPr>
            <a:r>
              <a:rPr dirty="0">
                <a:latin typeface="Circe" panose="020B0502020203020203" pitchFamily="34" charset="-52"/>
              </a:rPr>
              <a:t>{{PASSWORD}}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D63DDB-024D-E54C-F4F5-21B48D781854}"/>
              </a:ext>
            </a:extLst>
          </p:cNvPr>
          <p:cNvSpPr txBox="1"/>
          <p:nvPr/>
        </p:nvSpPr>
        <p:spPr>
          <a:xfrm>
            <a:off x="1051974" y="5113311"/>
            <a:ext cx="1307902" cy="130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{{QR_WIFI}}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931BAEC2-DD69-3EB3-1628-C02EB991514D}"/>
              </a:ext>
            </a:extLst>
          </p:cNvPr>
          <p:cNvGrpSpPr/>
          <p:nvPr/>
        </p:nvGrpSpPr>
        <p:grpSpPr>
          <a:xfrm>
            <a:off x="3554632" y="1257973"/>
            <a:ext cx="3582737" cy="4413839"/>
            <a:chOff x="3554632" y="1257973"/>
            <a:chExt cx="3582737" cy="4413839"/>
          </a:xfrm>
        </p:grpSpPr>
        <p:grpSp>
          <p:nvGrpSpPr>
            <p:cNvPr id="19" name="Group 2">
              <a:extLst>
                <a:ext uri="{FF2B5EF4-FFF2-40B4-BE49-F238E27FC236}">
                  <a16:creationId xmlns:a16="http://schemas.microsoft.com/office/drawing/2014/main" id="{3FD1D5E6-19BB-FEA7-7CE8-527A8C912757}"/>
                </a:ext>
              </a:extLst>
            </p:cNvPr>
            <p:cNvGrpSpPr/>
            <p:nvPr/>
          </p:nvGrpSpPr>
          <p:grpSpPr>
            <a:xfrm>
              <a:off x="3554632" y="3476840"/>
              <a:ext cx="3582737" cy="516647"/>
              <a:chOff x="11809" y="50579"/>
              <a:chExt cx="4776982" cy="688862"/>
            </a:xfrm>
          </p:grpSpPr>
          <p:sp>
            <p:nvSpPr>
              <p:cNvPr id="20" name="AutoShape 3">
                <a:extLst>
                  <a:ext uri="{FF2B5EF4-FFF2-40B4-BE49-F238E27FC236}">
                    <a16:creationId xmlns:a16="http://schemas.microsoft.com/office/drawing/2014/main" id="{F6C4E464-4D38-26F4-123B-4F421C11995C}"/>
                  </a:ext>
                </a:extLst>
              </p:cNvPr>
              <p:cNvSpPr/>
              <p:nvPr/>
            </p:nvSpPr>
            <p:spPr>
              <a:xfrm>
                <a:off x="64432" y="50579"/>
                <a:ext cx="4673601" cy="23"/>
              </a:xfrm>
              <a:prstGeom prst="line">
                <a:avLst/>
              </a:prstGeom>
              <a:ln>
                <a:solidFill>
                  <a:srgbClr val="767576"/>
                </a:solidFill>
                <a:headEnd type="none" w="sm" len="sm"/>
                <a:tailEnd type="none" w="sm" len="sm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/>
              </a:p>
            </p:txBody>
          </p:sp>
          <p:grpSp>
            <p:nvGrpSpPr>
              <p:cNvPr id="21" name="Group 4">
                <a:extLst>
                  <a:ext uri="{FF2B5EF4-FFF2-40B4-BE49-F238E27FC236}">
                    <a16:creationId xmlns:a16="http://schemas.microsoft.com/office/drawing/2014/main" id="{EFB8CD70-6E59-651B-A6AC-DCE8158FD3C9}"/>
                  </a:ext>
                </a:extLst>
              </p:cNvPr>
              <p:cNvGrpSpPr/>
              <p:nvPr/>
            </p:nvGrpSpPr>
            <p:grpSpPr>
              <a:xfrm>
                <a:off x="11809" y="84187"/>
                <a:ext cx="4776982" cy="655254"/>
                <a:chOff x="0" y="-28575"/>
                <a:chExt cx="1283972" cy="176121"/>
              </a:xfrm>
            </p:grpSpPr>
            <p:sp>
              <p:nvSpPr>
                <p:cNvPr id="23" name="Freeform 5">
                  <a:extLst>
                    <a:ext uri="{FF2B5EF4-FFF2-40B4-BE49-F238E27FC236}">
                      <a16:creationId xmlns:a16="http://schemas.microsoft.com/office/drawing/2014/main" id="{FEFA54D7-4DD4-3E0F-6946-B533476A049C}"/>
                    </a:ext>
                  </a:extLst>
                </p:cNvPr>
                <p:cNvSpPr/>
                <p:nvPr/>
              </p:nvSpPr>
              <p:spPr>
                <a:xfrm>
                  <a:off x="14144" y="0"/>
                  <a:ext cx="1256185" cy="147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3972" h="147546">
                      <a:moveTo>
                        <a:pt x="0" y="0"/>
                      </a:moveTo>
                      <a:lnTo>
                        <a:pt x="1283972" y="0"/>
                      </a:lnTo>
                      <a:lnTo>
                        <a:pt x="1283972" y="147546"/>
                      </a:lnTo>
                      <a:lnTo>
                        <a:pt x="0" y="147546"/>
                      </a:lnTo>
                      <a:close/>
                    </a:path>
                  </a:pathLst>
                </a:custGeom>
                <a:solidFill>
                  <a:srgbClr val="767576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4" name="TextBox 6">
                  <a:extLst>
                    <a:ext uri="{FF2B5EF4-FFF2-40B4-BE49-F238E27FC236}">
                      <a16:creationId xmlns:a16="http://schemas.microsoft.com/office/drawing/2014/main" id="{9D43BC0F-FA61-102B-3819-088AC6722743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3972" cy="176121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</p:grp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D95093AC-1D7F-FCDC-FADB-288C2C96476A}"/>
                </a:ext>
              </a:extLst>
            </p:cNvPr>
            <p:cNvSpPr txBox="1"/>
            <p:nvPr/>
          </p:nvSpPr>
          <p:spPr>
            <a:xfrm>
              <a:off x="4170785" y="4618066"/>
              <a:ext cx="2350430" cy="465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ru-RU" sz="3603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мерч</a:t>
              </a:r>
              <a:endParaRPr lang="en-US" sz="3603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3AD8E4C-8BCA-A6B8-9885-58688927915D}"/>
                </a:ext>
              </a:extLst>
            </p:cNvPr>
            <p:cNvSpPr txBox="1"/>
            <p:nvPr/>
          </p:nvSpPr>
          <p:spPr>
            <a:xfrm>
              <a:off x="3790720" y="1257973"/>
              <a:ext cx="3110559" cy="17657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8"/>
                </a:lnSpc>
              </a:pPr>
              <a:r>
                <a:rPr lang="ru-RU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Пространство, где встречаются искусство, город и люди.</a:t>
              </a:r>
            </a:p>
            <a:p>
              <a:pPr algn="ctr">
                <a:lnSpc>
                  <a:spcPts val="2038"/>
                </a:lnSpc>
              </a:pPr>
              <a:r>
                <a:rPr lang="ru-RU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Вы — не просто гости апарт-отелей, а соавторы атмосферы, свидетели культурных событий и участники визуальной истории ARTSTUDIO.</a:t>
              </a:r>
            </a:p>
            <a:p>
              <a:pPr algn="ctr">
                <a:lnSpc>
                  <a:spcPts val="2038"/>
                </a:lnSpc>
              </a:pPr>
              <a:endParaRPr lang="ru-RU" sz="910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endParaRPr>
            </a:p>
            <a:p>
              <a:pPr algn="ctr">
                <a:lnSpc>
                  <a:spcPts val="2038"/>
                </a:lnSpc>
              </a:pPr>
              <a:r>
                <a:rPr lang="ru-RU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Мы очень благодарны, когда вы делитесь своими фото и отмечаете нас в социальных сетях!</a:t>
              </a:r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4559BC32-A4CD-D5BD-2679-DB2560225136}"/>
                </a:ext>
              </a:extLst>
            </p:cNvPr>
            <p:cNvSpPr txBox="1"/>
            <p:nvPr/>
          </p:nvSpPr>
          <p:spPr>
            <a:xfrm>
              <a:off x="3790720" y="5277730"/>
              <a:ext cx="3110559" cy="394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ru-RU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Фирменные пижамы, свечи и сувениры —</a:t>
              </a:r>
            </a:p>
            <a:p>
              <a:pPr algn="ctr">
                <a:lnSpc>
                  <a:spcPts val="1556"/>
                </a:lnSpc>
              </a:pPr>
              <a:r>
                <a:rPr lang="ru-RU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всё можно посмотреть на ресепшене или по QR</a:t>
              </a:r>
            </a:p>
          </p:txBody>
        </p:sp>
      </p:grpSp>
      <p:sp>
        <p:nvSpPr>
          <p:cNvPr id="31" name="AutoShape 3">
            <a:extLst>
              <a:ext uri="{FF2B5EF4-FFF2-40B4-BE49-F238E27FC236}">
                <a16:creationId xmlns:a16="http://schemas.microsoft.com/office/drawing/2014/main" id="{2FE056CF-6B28-E0B3-8B8A-0F1C9F334BD4}"/>
              </a:ext>
            </a:extLst>
          </p:cNvPr>
          <p:cNvSpPr/>
          <p:nvPr/>
        </p:nvSpPr>
        <p:spPr>
          <a:xfrm>
            <a:off x="3593398" y="4073222"/>
            <a:ext cx="3505201" cy="17"/>
          </a:xfrm>
          <a:prstGeom prst="line">
            <a:avLst/>
          </a:prstGeom>
          <a:ln>
            <a:solidFill>
              <a:srgbClr val="767576"/>
            </a:solidFill>
            <a:headEnd type="none" w="sm" len="sm"/>
            <a:tailEnd type="none" w="sm" len="sm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74938EAC-8025-8A44-D7A3-509B8FC1AB44}"/>
              </a:ext>
            </a:extLst>
          </p:cNvPr>
          <p:cNvGrpSpPr/>
          <p:nvPr/>
        </p:nvGrpSpPr>
        <p:grpSpPr>
          <a:xfrm>
            <a:off x="7411346" y="350058"/>
            <a:ext cx="3110559" cy="6413623"/>
            <a:chOff x="7415808" y="323006"/>
            <a:chExt cx="3110559" cy="6413623"/>
          </a:xfrm>
        </p:grpSpPr>
        <p:grpSp>
          <p:nvGrpSpPr>
            <p:cNvPr id="32" name="Group 8">
              <a:extLst>
                <a:ext uri="{FF2B5EF4-FFF2-40B4-BE49-F238E27FC236}">
                  <a16:creationId xmlns:a16="http://schemas.microsoft.com/office/drawing/2014/main" id="{D4CFEBC2-5DA0-4139-FFEC-E1E0231CF663}"/>
                </a:ext>
              </a:extLst>
            </p:cNvPr>
            <p:cNvGrpSpPr/>
            <p:nvPr/>
          </p:nvGrpSpPr>
          <p:grpSpPr>
            <a:xfrm>
              <a:off x="7762875" y="323006"/>
              <a:ext cx="2328525" cy="2066314"/>
              <a:chOff x="0" y="0"/>
              <a:chExt cx="834491" cy="740520"/>
            </a:xfrm>
          </p:grpSpPr>
          <p:sp>
            <p:nvSpPr>
              <p:cNvPr id="33" name="Freeform 9">
                <a:extLst>
                  <a:ext uri="{FF2B5EF4-FFF2-40B4-BE49-F238E27FC236}">
                    <a16:creationId xmlns:a16="http://schemas.microsoft.com/office/drawing/2014/main" id="{9878EB62-1394-0990-D065-DCA024201358}"/>
                  </a:ext>
                </a:extLst>
              </p:cNvPr>
              <p:cNvSpPr/>
              <p:nvPr/>
            </p:nvSpPr>
            <p:spPr>
              <a:xfrm>
                <a:off x="0" y="0"/>
                <a:ext cx="834491" cy="740520"/>
              </a:xfrm>
              <a:custGeom>
                <a:avLst/>
                <a:gdLst/>
                <a:ahLst/>
                <a:cxnLst/>
                <a:rect l="l" t="t" r="r" b="b"/>
                <a:pathLst>
                  <a:path w="834491" h="740520">
                    <a:moveTo>
                      <a:pt x="278314" y="721451"/>
                    </a:moveTo>
                    <a:cubicBezTo>
                      <a:pt x="321096" y="732965"/>
                      <a:pt x="369734" y="740520"/>
                      <a:pt x="417470" y="740520"/>
                    </a:cubicBezTo>
                    <a:cubicBezTo>
                      <a:pt x="465208" y="740520"/>
                      <a:pt x="511143" y="734043"/>
                      <a:pt x="553474" y="722529"/>
                    </a:cubicBezTo>
                    <a:cubicBezTo>
                      <a:pt x="554376" y="722170"/>
                      <a:pt x="555277" y="722170"/>
                      <a:pt x="556177" y="721811"/>
                    </a:cubicBezTo>
                    <a:cubicBezTo>
                      <a:pt x="715149" y="675755"/>
                      <a:pt x="832239" y="554141"/>
                      <a:pt x="834491" y="413624"/>
                    </a:cubicBezTo>
                    <a:lnTo>
                      <a:pt x="834491" y="0"/>
                    </a:lnTo>
                    <a:lnTo>
                      <a:pt x="0" y="0"/>
                    </a:lnTo>
                    <a:lnTo>
                      <a:pt x="0" y="413317"/>
                    </a:lnTo>
                    <a:cubicBezTo>
                      <a:pt x="2252" y="554860"/>
                      <a:pt x="117540" y="676475"/>
                      <a:pt x="278314" y="721451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TextBox 10">
                <a:extLst>
                  <a:ext uri="{FF2B5EF4-FFF2-40B4-BE49-F238E27FC236}">
                    <a16:creationId xmlns:a16="http://schemas.microsoft.com/office/drawing/2014/main" id="{AA1CF82A-CAD3-8265-AE81-BE9C3459B01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34491" cy="6420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sp>
          <p:nvSpPr>
            <p:cNvPr id="36" name="TextBox 25">
              <a:extLst>
                <a:ext uri="{FF2B5EF4-FFF2-40B4-BE49-F238E27FC236}">
                  <a16:creationId xmlns:a16="http://schemas.microsoft.com/office/drawing/2014/main" id="{16FFFB7B-99C6-BFCA-3D5C-604B0D45E9AF}"/>
                </a:ext>
              </a:extLst>
            </p:cNvPr>
            <p:cNvSpPr txBox="1"/>
            <p:nvPr/>
          </p:nvSpPr>
          <p:spPr>
            <a:xfrm>
              <a:off x="7795873" y="2939645"/>
              <a:ext cx="2350430" cy="1598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8"/>
                </a:lnSpc>
              </a:pPr>
              <a:r>
                <a:rPr lang="ru-RU" sz="16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ARTSTUDIO </a:t>
              </a:r>
              <a:r>
                <a:rPr lang="ru-RU" sz="1603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Nevsky</a:t>
              </a:r>
              <a:r>
                <a:rPr lang="ru-RU" sz="16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— пространство комфорта и вдохновения.</a:t>
              </a:r>
            </a:p>
            <a:p>
              <a:pPr algn="ctr">
                <a:lnSpc>
                  <a:spcPts val="2148"/>
                </a:lnSpc>
              </a:pPr>
              <a:endParaRPr lang="ru-RU" sz="1603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endParaRPr>
            </a:p>
            <a:p>
              <a:pPr algn="ctr">
                <a:lnSpc>
                  <a:spcPts val="2148"/>
                </a:lnSpc>
              </a:pPr>
              <a:r>
                <a:rPr lang="ru-RU" sz="16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</a:t>
              </a:r>
              <a:r>
                <a:rPr lang="ru-RU" sz="13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Уникальный апарт-отель для жизни, работы и отдыха.</a:t>
              </a:r>
            </a:p>
          </p:txBody>
        </p:sp>
        <p:sp>
          <p:nvSpPr>
            <p:cNvPr id="37" name="TextBox 29">
              <a:extLst>
                <a:ext uri="{FF2B5EF4-FFF2-40B4-BE49-F238E27FC236}">
                  <a16:creationId xmlns:a16="http://schemas.microsoft.com/office/drawing/2014/main" id="{884A4A87-583F-FEE9-E0C4-0DF9EB9FA040}"/>
                </a:ext>
              </a:extLst>
            </p:cNvPr>
            <p:cNvSpPr txBox="1"/>
            <p:nvPr/>
          </p:nvSpPr>
          <p:spPr>
            <a:xfrm>
              <a:off x="7415808" y="6252779"/>
              <a:ext cx="3110559" cy="48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8"/>
                </a:lnSpc>
              </a:pPr>
              <a:r>
                <a:rPr lang="ru-RU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Оставайтесь на связи с ARTSTUDIO</a:t>
              </a:r>
            </a:p>
            <a:p>
              <a:pPr algn="ctr">
                <a:lnSpc>
                  <a:spcPts val="2038"/>
                </a:lnSpc>
              </a:pPr>
              <a:r>
                <a:rPr lang="ru-RU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Контакты, соцсети, помощь — всё по QR</a:t>
              </a:r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817B7FA4-A8E8-BA25-C251-FBBA8A04A597}"/>
                </a:ext>
              </a:extLst>
            </p:cNvPr>
            <p:cNvSpPr/>
            <p:nvPr/>
          </p:nvSpPr>
          <p:spPr>
            <a:xfrm>
              <a:off x="8006176" y="553259"/>
              <a:ext cx="1929824" cy="1157151"/>
            </a:xfrm>
            <a:custGeom>
              <a:avLst/>
              <a:gdLst/>
              <a:ahLst/>
              <a:cxnLst/>
              <a:rect l="l" t="t" r="r" b="b"/>
              <a:pathLst>
                <a:path w="1929824" h="1157151">
                  <a:moveTo>
                    <a:pt x="0" y="0"/>
                  </a:moveTo>
                  <a:lnTo>
                    <a:pt x="1929824" y="0"/>
                  </a:lnTo>
                  <a:lnTo>
                    <a:pt x="1929824" y="1157152"/>
                  </a:lnTo>
                  <a:lnTo>
                    <a:pt x="0" y="1157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2" b="-3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Freeform 21">
            <a:extLst>
              <a:ext uri="{FF2B5EF4-FFF2-40B4-BE49-F238E27FC236}">
                <a16:creationId xmlns:a16="http://schemas.microsoft.com/office/drawing/2014/main" id="{FC9BB0DE-AF7D-84F0-4AD4-02E75841E51B}"/>
              </a:ext>
            </a:extLst>
          </p:cNvPr>
          <p:cNvSpPr>
            <a:spLocks/>
          </p:cNvSpPr>
          <p:nvPr/>
        </p:nvSpPr>
        <p:spPr>
          <a:xfrm>
            <a:off x="8391974" y="5102292"/>
            <a:ext cx="1158228" cy="1158228"/>
          </a:xfrm>
          <a:custGeom>
            <a:avLst/>
            <a:gdLst/>
            <a:ahLst/>
            <a:cxnLst/>
            <a:rect l="l" t="t" r="r" b="b"/>
            <a:pathLst>
              <a:path w="1158228" h="1158228">
                <a:moveTo>
                  <a:pt x="0" y="0"/>
                </a:moveTo>
                <a:lnTo>
                  <a:pt x="1158228" y="0"/>
                </a:lnTo>
                <a:lnTo>
                  <a:pt x="1158228" y="1158228"/>
                </a:lnTo>
                <a:lnTo>
                  <a:pt x="0" y="1158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" name="Freeform 21">
            <a:extLst>
              <a:ext uri="{FF2B5EF4-FFF2-40B4-BE49-F238E27FC236}">
                <a16:creationId xmlns:a16="http://schemas.microsoft.com/office/drawing/2014/main" id="{0AB763F0-F534-A7C8-174D-A174EAF0EB43}"/>
              </a:ext>
            </a:extLst>
          </p:cNvPr>
          <p:cNvSpPr/>
          <p:nvPr/>
        </p:nvSpPr>
        <p:spPr>
          <a:xfrm>
            <a:off x="4805829" y="5865899"/>
            <a:ext cx="1080337" cy="1080337"/>
          </a:xfrm>
          <a:custGeom>
            <a:avLst/>
            <a:gdLst/>
            <a:ahLst/>
            <a:cxnLst/>
            <a:rect l="l" t="t" r="r" b="b"/>
            <a:pathLst>
              <a:path w="1190371" h="1190371">
                <a:moveTo>
                  <a:pt x="0" y="0"/>
                </a:moveTo>
                <a:lnTo>
                  <a:pt x="1190370" y="0"/>
                </a:lnTo>
                <a:lnTo>
                  <a:pt x="1190370" y="1190370"/>
                </a:lnTo>
                <a:lnTo>
                  <a:pt x="0" y="1190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sz="1500"/>
          </a:p>
        </p:txBody>
      </p:sp>
      <p:sp>
        <p:nvSpPr>
          <p:cNvPr id="15" name="Freeform 22">
            <a:extLst>
              <a:ext uri="{FF2B5EF4-FFF2-40B4-BE49-F238E27FC236}">
                <a16:creationId xmlns:a16="http://schemas.microsoft.com/office/drawing/2014/main" id="{6C4F59F5-506A-4B09-5138-38064F3F5987}"/>
              </a:ext>
            </a:extLst>
          </p:cNvPr>
          <p:cNvSpPr/>
          <p:nvPr/>
        </p:nvSpPr>
        <p:spPr>
          <a:xfrm>
            <a:off x="8441042" y="5146229"/>
            <a:ext cx="1051165" cy="1051165"/>
          </a:xfrm>
          <a:custGeom>
            <a:avLst/>
            <a:gdLst/>
            <a:ahLst/>
            <a:cxnLst/>
            <a:rect l="l" t="t" r="r" b="b"/>
            <a:pathLst>
              <a:path w="1158228" h="1158228">
                <a:moveTo>
                  <a:pt x="0" y="0"/>
                </a:moveTo>
                <a:lnTo>
                  <a:pt x="1158228" y="0"/>
                </a:lnTo>
                <a:lnTo>
                  <a:pt x="1158228" y="1158228"/>
                </a:lnTo>
                <a:lnTo>
                  <a:pt x="0" y="11582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223939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307</Words>
  <Application>Microsoft Office PowerPoint</Application>
  <PresentationFormat>Произвольный</PresentationFormat>
  <Paragraphs>52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Circe Bold</vt:lpstr>
      <vt:lpstr>Circe</vt:lpstr>
      <vt:lpstr>Arial</vt:lpstr>
      <vt:lpstr>Calibri</vt:lpstr>
      <vt:lpstr>Office Theme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Брошюра АН</dc:title>
  <cp:lastModifiedBy>Александр Арафаилов</cp:lastModifiedBy>
  <cp:revision>11</cp:revision>
  <dcterms:created xsi:type="dcterms:W3CDTF">2006-08-16T00:00:00Z</dcterms:created>
  <dcterms:modified xsi:type="dcterms:W3CDTF">2026-06-23T14:25:35Z</dcterms:modified>
  <dc:identifier>DAG_ty84f3o</dc:identifier>
</cp:coreProperties>
</file>