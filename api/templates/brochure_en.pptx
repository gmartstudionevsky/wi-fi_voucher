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</p:sldIdLst>
  <p:sldSz cx="10693400" cy="7556500"/>
  <p:notesSz cx="6858000" cy="9144000"/>
  <p:embeddedFontLst>
    <p:embeddedFont>
      <p:font typeface="Circe" panose="020B0502020203020203" pitchFamily="34" charset="-52"/>
      <p:regular r:id="rId4"/>
    </p:embeddedFont>
    <p:embeddedFont>
      <p:font typeface="Circe Bold" panose="020B0602020203020203" pitchFamily="34" charset="-52"/>
      <p:regular r:id="rId5"/>
      <p:bold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25" d="100"/>
          <a:sy n="125" d="100"/>
        </p:scale>
        <p:origin x="58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57A438C-9138-E44A-5699-BBBB132E9942}"/>
              </a:ext>
            </a:extLst>
          </p:cNvPr>
          <p:cNvGrpSpPr/>
          <p:nvPr/>
        </p:nvGrpSpPr>
        <p:grpSpPr>
          <a:xfrm>
            <a:off x="88900" y="577850"/>
            <a:ext cx="3451125" cy="5379191"/>
            <a:chOff x="290103" y="520040"/>
            <a:chExt cx="3451125" cy="5379191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B2396099-D8BB-3B2A-E490-D6DA04ED7897}"/>
                </a:ext>
              </a:extLst>
            </p:cNvPr>
            <p:cNvGrpSpPr/>
            <p:nvPr/>
          </p:nvGrpSpPr>
          <p:grpSpPr>
            <a:xfrm>
              <a:off x="290103" y="520040"/>
              <a:ext cx="3146443" cy="2595936"/>
              <a:chOff x="0" y="0"/>
              <a:chExt cx="4195258" cy="3461248"/>
            </a:xfrm>
          </p:grpSpPr>
          <p:grpSp>
            <p:nvGrpSpPr>
              <p:cNvPr id="4" name="Group 16">
                <a:extLst>
                  <a:ext uri="{FF2B5EF4-FFF2-40B4-BE49-F238E27FC236}">
                    <a16:creationId xmlns:a16="http://schemas.microsoft.com/office/drawing/2014/main" id="{3E656E09-7416-D1B8-72B9-492C9ACB4E26}"/>
                  </a:ext>
                </a:extLst>
              </p:cNvPr>
              <p:cNvGrpSpPr/>
              <p:nvPr/>
            </p:nvGrpSpPr>
            <p:grpSpPr>
              <a:xfrm>
                <a:off x="0" y="0"/>
                <a:ext cx="885827" cy="885827"/>
                <a:chOff x="0" y="0"/>
                <a:chExt cx="812800" cy="812800"/>
              </a:xfrm>
            </p:grpSpPr>
            <p:sp>
              <p:nvSpPr>
                <p:cNvPr id="17" name="Freeform 17">
                  <a:extLst>
                    <a:ext uri="{FF2B5EF4-FFF2-40B4-BE49-F238E27FC236}">
                      <a16:creationId xmlns:a16="http://schemas.microsoft.com/office/drawing/2014/main" id="{A1E9566B-16AB-ADF2-C33E-50AC6AB0C44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8" name="TextBox 18">
                  <a:extLst>
                    <a:ext uri="{FF2B5EF4-FFF2-40B4-BE49-F238E27FC236}">
                      <a16:creationId xmlns:a16="http://schemas.microsoft.com/office/drawing/2014/main" id="{9B523A20-47BB-C358-249D-B1430BFCE1C5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5" name="AutoShape 19">
                <a:extLst>
                  <a:ext uri="{FF2B5EF4-FFF2-40B4-BE49-F238E27FC236}">
                    <a16:creationId xmlns:a16="http://schemas.microsoft.com/office/drawing/2014/main" id="{E552BF0F-C790-6B4F-48C3-8495DA970452}"/>
                  </a:ext>
                </a:extLst>
              </p:cNvPr>
              <p:cNvSpPr/>
              <p:nvPr/>
            </p:nvSpPr>
            <p:spPr>
              <a:xfrm flipV="1">
                <a:off x="885827" y="998817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TextBox 20">
                <a:extLst>
                  <a:ext uri="{FF2B5EF4-FFF2-40B4-BE49-F238E27FC236}">
                    <a16:creationId xmlns:a16="http://schemas.microsoft.com/office/drawing/2014/main" id="{C28673D3-3BA4-076D-544C-F86A58D51872}"/>
                  </a:ext>
                </a:extLst>
              </p:cNvPr>
              <p:cNvSpPr txBox="1"/>
              <p:nvPr/>
            </p:nvSpPr>
            <p:spPr>
              <a:xfrm>
                <a:off x="442913" y="152693"/>
                <a:ext cx="3752345" cy="71823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57"/>
                  </a:lnSpc>
                </a:pPr>
                <a:r>
                  <a:rPr lang="en-US" sz="116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Flower Orders</a:t>
                </a:r>
              </a:p>
              <a:p>
                <a:pPr algn="l">
                  <a:lnSpc>
                    <a:spcPts val="1357"/>
                  </a:lnSpc>
                </a:pPr>
                <a:r>
                  <a:rPr lang="en-US" sz="1169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We’ll help you choose and arrange a bouquet — just ask the receptionist.</a:t>
                </a:r>
              </a:p>
            </p:txBody>
          </p:sp>
          <p:grpSp>
            <p:nvGrpSpPr>
              <p:cNvPr id="7" name="Group 21">
                <a:extLst>
                  <a:ext uri="{FF2B5EF4-FFF2-40B4-BE49-F238E27FC236}">
                    <a16:creationId xmlns:a16="http://schemas.microsoft.com/office/drawing/2014/main" id="{304FD048-84D7-ED85-8006-79FAC54362FD}"/>
                  </a:ext>
                </a:extLst>
              </p:cNvPr>
              <p:cNvGrpSpPr/>
              <p:nvPr/>
            </p:nvGrpSpPr>
            <p:grpSpPr>
              <a:xfrm>
                <a:off x="0" y="1143217"/>
                <a:ext cx="885827" cy="885827"/>
                <a:chOff x="0" y="0"/>
                <a:chExt cx="812800" cy="812800"/>
              </a:xfrm>
            </p:grpSpPr>
            <p:sp>
              <p:nvSpPr>
                <p:cNvPr id="15" name="Freeform 22">
                  <a:extLst>
                    <a:ext uri="{FF2B5EF4-FFF2-40B4-BE49-F238E27FC236}">
                      <a16:creationId xmlns:a16="http://schemas.microsoft.com/office/drawing/2014/main" id="{8C0A7496-E4DC-C508-3526-5B38FE20F0A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6" name="TextBox 23">
                  <a:extLst>
                    <a:ext uri="{FF2B5EF4-FFF2-40B4-BE49-F238E27FC236}">
                      <a16:creationId xmlns:a16="http://schemas.microsoft.com/office/drawing/2014/main" id="{7032AEC3-5FAB-3848-08B4-A07B52D95258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8" name="Group 24">
                <a:extLst>
                  <a:ext uri="{FF2B5EF4-FFF2-40B4-BE49-F238E27FC236}">
                    <a16:creationId xmlns:a16="http://schemas.microsoft.com/office/drawing/2014/main" id="{7443EBBE-D92E-4147-AAAF-D4EE974C3B41}"/>
                  </a:ext>
                </a:extLst>
              </p:cNvPr>
              <p:cNvGrpSpPr/>
              <p:nvPr/>
            </p:nvGrpSpPr>
            <p:grpSpPr>
              <a:xfrm>
                <a:off x="0" y="2403461"/>
                <a:ext cx="885827" cy="885827"/>
                <a:chOff x="0" y="0"/>
                <a:chExt cx="812800" cy="812800"/>
              </a:xfrm>
            </p:grpSpPr>
            <p:sp>
              <p:nvSpPr>
                <p:cNvPr id="13" name="Freeform 25">
                  <a:extLst>
                    <a:ext uri="{FF2B5EF4-FFF2-40B4-BE49-F238E27FC236}">
                      <a16:creationId xmlns:a16="http://schemas.microsoft.com/office/drawing/2014/main" id="{250B818A-ADFE-A804-DFB4-CEF7DC4F305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4" name="TextBox 26">
                  <a:extLst>
                    <a:ext uri="{FF2B5EF4-FFF2-40B4-BE49-F238E27FC236}">
                      <a16:creationId xmlns:a16="http://schemas.microsoft.com/office/drawing/2014/main" id="{1C49D929-8094-C7B3-50EB-6A071C9684B7}"/>
                    </a:ext>
                  </a:extLst>
                </p:cNvPr>
                <p:cNvSpPr txBox="1"/>
                <p:nvPr/>
              </p:nvSpPr>
              <p:spPr>
                <a:xfrm>
                  <a:off x="76200" y="47625"/>
                  <a:ext cx="660400" cy="68897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9" name="AutoShape 27">
                <a:extLst>
                  <a:ext uri="{FF2B5EF4-FFF2-40B4-BE49-F238E27FC236}">
                    <a16:creationId xmlns:a16="http://schemas.microsoft.com/office/drawing/2014/main" id="{D390AEE3-9BF0-D11E-4469-E954DC228862}"/>
                  </a:ext>
                </a:extLst>
              </p:cNvPr>
              <p:cNvSpPr/>
              <p:nvPr/>
            </p:nvSpPr>
            <p:spPr>
              <a:xfrm flipV="1">
                <a:off x="885827" y="3461248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AutoShape 28">
                <a:extLst>
                  <a:ext uri="{FF2B5EF4-FFF2-40B4-BE49-F238E27FC236}">
                    <a16:creationId xmlns:a16="http://schemas.microsoft.com/office/drawing/2014/main" id="{76DC279A-4AC7-B3F2-DA82-854DD73969C7}"/>
                  </a:ext>
                </a:extLst>
              </p:cNvPr>
              <p:cNvSpPr/>
              <p:nvPr/>
            </p:nvSpPr>
            <p:spPr>
              <a:xfrm flipV="1">
                <a:off x="885827" y="2187561"/>
                <a:ext cx="1889581" cy="0"/>
              </a:xfrm>
              <a:prstGeom prst="line">
                <a:avLst/>
              </a:prstGeom>
              <a:ln w="25400" cap="rnd">
                <a:solidFill>
                  <a:srgbClr val="767576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29">
                <a:extLst>
                  <a:ext uri="{FF2B5EF4-FFF2-40B4-BE49-F238E27FC236}">
                    <a16:creationId xmlns:a16="http://schemas.microsoft.com/office/drawing/2014/main" id="{923EF2B3-D3EB-8541-EF50-1004A378DA60}"/>
                  </a:ext>
                </a:extLst>
              </p:cNvPr>
              <p:cNvSpPr txBox="1"/>
              <p:nvPr/>
            </p:nvSpPr>
            <p:spPr>
              <a:xfrm>
                <a:off x="442913" y="1226277"/>
                <a:ext cx="3628993" cy="4458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31"/>
                  </a:lnSpc>
                </a:pPr>
                <a:r>
                  <a:rPr lang="en-US" sz="110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Excursions</a:t>
                </a:r>
              </a:p>
              <a:p>
                <a:pPr algn="l">
                  <a:lnSpc>
                    <a:spcPts val="1331"/>
                  </a:lnSpc>
                </a:pPr>
                <a:r>
                  <a:rPr lang="en-US" sz="1109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Book excursions at reception.</a:t>
                </a:r>
              </a:p>
            </p:txBody>
          </p:sp>
          <p:sp>
            <p:nvSpPr>
              <p:cNvPr id="12" name="TextBox 30">
                <a:extLst>
                  <a:ext uri="{FF2B5EF4-FFF2-40B4-BE49-F238E27FC236}">
                    <a16:creationId xmlns:a16="http://schemas.microsoft.com/office/drawing/2014/main" id="{FC76D6A6-D963-AD8D-0E63-B9CFBF7CA6D9}"/>
                  </a:ext>
                </a:extLst>
              </p:cNvPr>
              <p:cNvSpPr txBox="1"/>
              <p:nvPr/>
            </p:nvSpPr>
            <p:spPr>
              <a:xfrm>
                <a:off x="393917" y="2527752"/>
                <a:ext cx="3677989" cy="718145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386"/>
                  </a:lnSpc>
                </a:pPr>
                <a:r>
                  <a:rPr lang="en-US" sz="1109" b="1" dirty="0">
                    <a:solidFill>
                      <a:srgbClr val="000000"/>
                    </a:solidFill>
                    <a:latin typeface="Circe Bold"/>
                    <a:ea typeface="Circe Bold"/>
                    <a:cs typeface="Circe Bold"/>
                    <a:sym typeface="Circe Bold"/>
                  </a:rPr>
                  <a:t>Transfers</a:t>
                </a:r>
              </a:p>
              <a:p>
                <a:pPr algn="l">
                  <a:lnSpc>
                    <a:spcPts val="1386"/>
                  </a:lnSpc>
                </a:pPr>
                <a:r>
                  <a:rPr lang="en-US" sz="1109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Order a transfer to the railway station or airport — details at reception.</a:t>
                </a:r>
              </a:p>
            </p:txBody>
          </p:sp>
        </p:grpSp>
        <p:grpSp>
          <p:nvGrpSpPr>
            <p:cNvPr id="19" name="Group 31">
              <a:extLst>
                <a:ext uri="{FF2B5EF4-FFF2-40B4-BE49-F238E27FC236}">
                  <a16:creationId xmlns:a16="http://schemas.microsoft.com/office/drawing/2014/main" id="{55860F3C-6CE9-AB67-BD3C-94F20DC53D1E}"/>
                </a:ext>
              </a:extLst>
            </p:cNvPr>
            <p:cNvGrpSpPr/>
            <p:nvPr/>
          </p:nvGrpSpPr>
          <p:grpSpPr>
            <a:xfrm>
              <a:off x="290103" y="3243757"/>
              <a:ext cx="664370" cy="664370"/>
              <a:chOff x="0" y="0"/>
              <a:chExt cx="812800" cy="812800"/>
            </a:xfrm>
          </p:grpSpPr>
          <p:sp>
            <p:nvSpPr>
              <p:cNvPr id="20" name="Freeform 32">
                <a:extLst>
                  <a:ext uri="{FF2B5EF4-FFF2-40B4-BE49-F238E27FC236}">
                    <a16:creationId xmlns:a16="http://schemas.microsoft.com/office/drawing/2014/main" id="{A1760AD8-5915-CBB6-2DEF-5CE7DBD9ACD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TextBox 33">
                <a:extLst>
                  <a:ext uri="{FF2B5EF4-FFF2-40B4-BE49-F238E27FC236}">
                    <a16:creationId xmlns:a16="http://schemas.microsoft.com/office/drawing/2014/main" id="{F3423D35-76A6-2EFA-5EA8-AD46DE54B84E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22" name="Group 34">
              <a:extLst>
                <a:ext uri="{FF2B5EF4-FFF2-40B4-BE49-F238E27FC236}">
                  <a16:creationId xmlns:a16="http://schemas.microsoft.com/office/drawing/2014/main" id="{B2E02752-1037-A6EF-516D-308A90F146F0}"/>
                </a:ext>
              </a:extLst>
            </p:cNvPr>
            <p:cNvGrpSpPr/>
            <p:nvPr/>
          </p:nvGrpSpPr>
          <p:grpSpPr>
            <a:xfrm>
              <a:off x="290103" y="4154729"/>
              <a:ext cx="664370" cy="664370"/>
              <a:chOff x="0" y="0"/>
              <a:chExt cx="812800" cy="812800"/>
            </a:xfrm>
          </p:grpSpPr>
          <p:sp>
            <p:nvSpPr>
              <p:cNvPr id="23" name="Freeform 35">
                <a:extLst>
                  <a:ext uri="{FF2B5EF4-FFF2-40B4-BE49-F238E27FC236}">
                    <a16:creationId xmlns:a16="http://schemas.microsoft.com/office/drawing/2014/main" id="{A8AD0920-D3DA-B277-2F75-53C60A7EAEA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TextBox 36">
                <a:extLst>
                  <a:ext uri="{FF2B5EF4-FFF2-40B4-BE49-F238E27FC236}">
                    <a16:creationId xmlns:a16="http://schemas.microsoft.com/office/drawing/2014/main" id="{521F1C86-FF25-41E3-EDBA-EA3C7FCE5CE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25" name="Group 37">
              <a:extLst>
                <a:ext uri="{FF2B5EF4-FFF2-40B4-BE49-F238E27FC236}">
                  <a16:creationId xmlns:a16="http://schemas.microsoft.com/office/drawing/2014/main" id="{24DED601-1B1C-1AB1-67F5-A03EF5261027}"/>
                </a:ext>
              </a:extLst>
            </p:cNvPr>
            <p:cNvGrpSpPr/>
            <p:nvPr/>
          </p:nvGrpSpPr>
          <p:grpSpPr>
            <a:xfrm>
              <a:off x="290103" y="5120561"/>
              <a:ext cx="664370" cy="664370"/>
              <a:chOff x="0" y="0"/>
              <a:chExt cx="812800" cy="812800"/>
            </a:xfrm>
          </p:grpSpPr>
          <p:sp>
            <p:nvSpPr>
              <p:cNvPr id="26" name="Freeform 38">
                <a:extLst>
                  <a:ext uri="{FF2B5EF4-FFF2-40B4-BE49-F238E27FC236}">
                    <a16:creationId xmlns:a16="http://schemas.microsoft.com/office/drawing/2014/main" id="{15FD9DE1-C85B-9E22-14DE-A8026F6BCB77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Box 39">
                <a:extLst>
                  <a:ext uri="{FF2B5EF4-FFF2-40B4-BE49-F238E27FC236}">
                    <a16:creationId xmlns:a16="http://schemas.microsoft.com/office/drawing/2014/main" id="{C79035A4-07A7-9EF0-A560-C395F9971C84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28" name="AutoShape 40">
              <a:extLst>
                <a:ext uri="{FF2B5EF4-FFF2-40B4-BE49-F238E27FC236}">
                  <a16:creationId xmlns:a16="http://schemas.microsoft.com/office/drawing/2014/main" id="{8979BA40-12B6-FAAA-A23B-A5FCAA0A4115}"/>
                </a:ext>
              </a:extLst>
            </p:cNvPr>
            <p:cNvSpPr/>
            <p:nvPr/>
          </p:nvSpPr>
          <p:spPr>
            <a:xfrm>
              <a:off x="954473" y="4103673"/>
              <a:ext cx="1417186" cy="6420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AutoShape 41">
              <a:extLst>
                <a:ext uri="{FF2B5EF4-FFF2-40B4-BE49-F238E27FC236}">
                  <a16:creationId xmlns:a16="http://schemas.microsoft.com/office/drawing/2014/main" id="{3D0B45F9-73EB-41FC-25C1-7884FED5ABBB}"/>
                </a:ext>
              </a:extLst>
            </p:cNvPr>
            <p:cNvSpPr/>
            <p:nvPr/>
          </p:nvSpPr>
          <p:spPr>
            <a:xfrm>
              <a:off x="954473" y="4822187"/>
              <a:ext cx="1417186" cy="0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AutoShape 42">
              <a:extLst>
                <a:ext uri="{FF2B5EF4-FFF2-40B4-BE49-F238E27FC236}">
                  <a16:creationId xmlns:a16="http://schemas.microsoft.com/office/drawing/2014/main" id="{12887816-1F0B-F7ED-2607-77C3548D9614}"/>
                </a:ext>
              </a:extLst>
            </p:cNvPr>
            <p:cNvSpPr/>
            <p:nvPr/>
          </p:nvSpPr>
          <p:spPr>
            <a:xfrm flipV="1">
              <a:off x="954473" y="5899231"/>
              <a:ext cx="1417186" cy="0"/>
            </a:xfrm>
            <a:prstGeom prst="line">
              <a:avLst/>
            </a:prstGeom>
            <a:ln w="2540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43">
              <a:extLst>
                <a:ext uri="{FF2B5EF4-FFF2-40B4-BE49-F238E27FC236}">
                  <a16:creationId xmlns:a16="http://schemas.microsoft.com/office/drawing/2014/main" id="{94524806-73BF-9A12-F8C4-691DB04941E7}"/>
                </a:ext>
              </a:extLst>
            </p:cNvPr>
            <p:cNvSpPr txBox="1"/>
            <p:nvPr/>
          </p:nvSpPr>
          <p:spPr>
            <a:xfrm>
              <a:off x="632229" y="3328537"/>
              <a:ext cx="2979562" cy="718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57"/>
                </a:lnSpc>
              </a:pPr>
              <a:r>
                <a:rPr lang="en-US" sz="116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Restaurant </a:t>
              </a:r>
              <a:r>
                <a:rPr lang="en-US" sz="1169" b="1" dirty="0" err="1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MemET</a:t>
              </a:r>
              <a:r>
                <a:rPr lang="en-US" sz="116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 &amp; Pir</a:t>
              </a:r>
            </a:p>
            <a:p>
              <a:pPr algn="l">
                <a:lnSpc>
                  <a:spcPts val="1357"/>
                </a:lnSpc>
              </a:pPr>
              <a:r>
                <a:rPr lang="en-US" sz="116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Continental breakfast is served from 9:30 AM to 11:30 AM, starting from 950 RUB. Lunch and dinner are also available à la carte.</a:t>
              </a:r>
            </a:p>
          </p:txBody>
        </p:sp>
        <p:sp>
          <p:nvSpPr>
            <p:cNvPr id="32" name="TextBox 44">
              <a:extLst>
                <a:ext uri="{FF2B5EF4-FFF2-40B4-BE49-F238E27FC236}">
                  <a16:creationId xmlns:a16="http://schemas.microsoft.com/office/drawing/2014/main" id="{FD0A4AA3-B6E9-AA45-5A84-57A35C91418E}"/>
                </a:ext>
              </a:extLst>
            </p:cNvPr>
            <p:cNvSpPr txBox="1"/>
            <p:nvPr/>
          </p:nvSpPr>
          <p:spPr>
            <a:xfrm>
              <a:off x="622287" y="5254428"/>
              <a:ext cx="3118941" cy="359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57"/>
                </a:lnSpc>
              </a:pPr>
              <a:r>
                <a:rPr lang="en-US" sz="1100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DIP SPA ROOM </a:t>
              </a:r>
            </a:p>
            <a:p>
              <a:pPr algn="l">
                <a:lnSpc>
                  <a:spcPts val="1357"/>
                </a:lnSpc>
              </a:pPr>
              <a:r>
                <a:rPr lang="en-US" sz="110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Bookings at reception.</a:t>
              </a:r>
            </a:p>
          </p:txBody>
        </p:sp>
        <p:sp>
          <p:nvSpPr>
            <p:cNvPr id="33" name="TextBox 45">
              <a:extLst>
                <a:ext uri="{FF2B5EF4-FFF2-40B4-BE49-F238E27FC236}">
                  <a16:creationId xmlns:a16="http://schemas.microsoft.com/office/drawing/2014/main" id="{C6FF1AF0-8C81-3460-C591-9E988E196D89}"/>
                </a:ext>
              </a:extLst>
            </p:cNvPr>
            <p:cNvSpPr txBox="1"/>
            <p:nvPr/>
          </p:nvSpPr>
          <p:spPr>
            <a:xfrm>
              <a:off x="622287" y="4261148"/>
              <a:ext cx="3118941" cy="359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20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Laundry &amp; Amenities</a:t>
              </a:r>
            </a:p>
            <a:p>
              <a:pPr algn="l">
                <a:lnSpc>
                  <a:spcPts val="1420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1 </a:t>
              </a: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laundry powder sachet — 150 ₽ each.</a:t>
              </a: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51722E5E-3F23-0466-4766-217E1DCA2303}"/>
              </a:ext>
            </a:extLst>
          </p:cNvPr>
          <p:cNvGrpSpPr/>
          <p:nvPr/>
        </p:nvGrpSpPr>
        <p:grpSpPr>
          <a:xfrm>
            <a:off x="4126829" y="-315799"/>
            <a:ext cx="2468828" cy="6342261"/>
            <a:chOff x="4126829" y="-315799"/>
            <a:chExt cx="2468828" cy="6342261"/>
          </a:xfrm>
        </p:grpSpPr>
        <p:grpSp>
          <p:nvGrpSpPr>
            <p:cNvPr id="35" name="Group 2">
              <a:extLst>
                <a:ext uri="{FF2B5EF4-FFF2-40B4-BE49-F238E27FC236}">
                  <a16:creationId xmlns:a16="http://schemas.microsoft.com/office/drawing/2014/main" id="{C932652A-8395-2C1D-AC20-6503286FAE94}"/>
                </a:ext>
              </a:extLst>
            </p:cNvPr>
            <p:cNvGrpSpPr/>
            <p:nvPr/>
          </p:nvGrpSpPr>
          <p:grpSpPr>
            <a:xfrm>
              <a:off x="4430221" y="-315799"/>
              <a:ext cx="1842750" cy="4095799"/>
              <a:chOff x="0" y="0"/>
              <a:chExt cx="660400" cy="1467842"/>
            </a:xfrm>
          </p:grpSpPr>
          <p:sp>
            <p:nvSpPr>
              <p:cNvPr id="36" name="Freeform 3">
                <a:extLst>
                  <a:ext uri="{FF2B5EF4-FFF2-40B4-BE49-F238E27FC236}">
                    <a16:creationId xmlns:a16="http://schemas.microsoft.com/office/drawing/2014/main" id="{1A8E6E7E-AF35-5BF5-6C76-7C08D7EA93CC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1467842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1467842">
                    <a:moveTo>
                      <a:pt x="220252" y="1448773"/>
                    </a:moveTo>
                    <a:cubicBezTo>
                      <a:pt x="254109" y="1460287"/>
                      <a:pt x="292600" y="1467842"/>
                      <a:pt x="330378" y="1467842"/>
                    </a:cubicBezTo>
                    <a:cubicBezTo>
                      <a:pt x="368157" y="1467842"/>
                      <a:pt x="404509" y="1461365"/>
                      <a:pt x="438009" y="1449851"/>
                    </a:cubicBezTo>
                    <a:cubicBezTo>
                      <a:pt x="438723" y="1449492"/>
                      <a:pt x="439435" y="1449492"/>
                      <a:pt x="440148" y="1449132"/>
                    </a:cubicBezTo>
                    <a:cubicBezTo>
                      <a:pt x="565955" y="1403077"/>
                      <a:pt x="658618" y="1281463"/>
                      <a:pt x="660400" y="1124790"/>
                    </a:cubicBezTo>
                    <a:lnTo>
                      <a:pt x="660400" y="0"/>
                    </a:lnTo>
                    <a:lnTo>
                      <a:pt x="0" y="0"/>
                    </a:lnTo>
                    <a:lnTo>
                      <a:pt x="0" y="1123955"/>
                    </a:lnTo>
                    <a:cubicBezTo>
                      <a:pt x="1782" y="1282182"/>
                      <a:pt x="93019" y="1403797"/>
                      <a:pt x="220252" y="1448773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4">
                <a:extLst>
                  <a:ext uri="{FF2B5EF4-FFF2-40B4-BE49-F238E27FC236}">
                    <a16:creationId xmlns:a16="http://schemas.microsoft.com/office/drawing/2014/main" id="{23B68609-793E-5FC6-3715-031ACC83482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660400" cy="13694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F29F1B5A-FD87-FFA1-2467-15E496CB6B39}"/>
                </a:ext>
              </a:extLst>
            </p:cNvPr>
            <p:cNvGrpSpPr/>
            <p:nvPr/>
          </p:nvGrpSpPr>
          <p:grpSpPr>
            <a:xfrm>
              <a:off x="5011282" y="5875934"/>
              <a:ext cx="669436" cy="150528"/>
              <a:chOff x="0" y="0"/>
              <a:chExt cx="892582" cy="200704"/>
            </a:xfrm>
          </p:grpSpPr>
          <p:grpSp>
            <p:nvGrpSpPr>
              <p:cNvPr id="39" name="Group 6">
                <a:extLst>
                  <a:ext uri="{FF2B5EF4-FFF2-40B4-BE49-F238E27FC236}">
                    <a16:creationId xmlns:a16="http://schemas.microsoft.com/office/drawing/2014/main" id="{5EFD69EF-5996-05CE-847A-FEBC0002039D}"/>
                  </a:ext>
                </a:extLst>
              </p:cNvPr>
              <p:cNvGrpSpPr/>
              <p:nvPr/>
            </p:nvGrpSpPr>
            <p:grpSpPr>
              <a:xfrm>
                <a:off x="340404" y="0"/>
                <a:ext cx="200704" cy="200704"/>
                <a:chOff x="0" y="0"/>
                <a:chExt cx="812800" cy="812800"/>
              </a:xfrm>
            </p:grpSpPr>
            <p:sp>
              <p:nvSpPr>
                <p:cNvPr id="46" name="Freeform 7">
                  <a:extLst>
                    <a:ext uri="{FF2B5EF4-FFF2-40B4-BE49-F238E27FC236}">
                      <a16:creationId xmlns:a16="http://schemas.microsoft.com/office/drawing/2014/main" id="{24BABB85-D64C-8CA9-B992-AEEFBD5869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7" name="TextBox 8">
                  <a:extLst>
                    <a:ext uri="{FF2B5EF4-FFF2-40B4-BE49-F238E27FC236}">
                      <a16:creationId xmlns:a16="http://schemas.microsoft.com/office/drawing/2014/main" id="{2EFC22F0-53C3-922E-0110-EFCE96F0FD22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40" name="Group 9">
                <a:extLst>
                  <a:ext uri="{FF2B5EF4-FFF2-40B4-BE49-F238E27FC236}">
                    <a16:creationId xmlns:a16="http://schemas.microsoft.com/office/drawing/2014/main" id="{3D2826C8-522D-5168-975E-9E4251570036}"/>
                  </a:ext>
                </a:extLst>
              </p:cNvPr>
              <p:cNvGrpSpPr/>
              <p:nvPr/>
            </p:nvGrpSpPr>
            <p:grpSpPr>
              <a:xfrm>
                <a:off x="691878" y="0"/>
                <a:ext cx="200704" cy="200704"/>
                <a:chOff x="0" y="0"/>
                <a:chExt cx="812800" cy="812800"/>
              </a:xfrm>
            </p:grpSpPr>
            <p:sp>
              <p:nvSpPr>
                <p:cNvPr id="44" name="Freeform 10">
                  <a:extLst>
                    <a:ext uri="{FF2B5EF4-FFF2-40B4-BE49-F238E27FC236}">
                      <a16:creationId xmlns:a16="http://schemas.microsoft.com/office/drawing/2014/main" id="{54EFC456-4C60-592C-3C35-E54B280B802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5" name="TextBox 11">
                  <a:extLst>
                    <a:ext uri="{FF2B5EF4-FFF2-40B4-BE49-F238E27FC236}">
                      <a16:creationId xmlns:a16="http://schemas.microsoft.com/office/drawing/2014/main" id="{5EC84F02-00B3-1D8D-D69D-AF885BAAA190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41" name="Group 12">
                <a:extLst>
                  <a:ext uri="{FF2B5EF4-FFF2-40B4-BE49-F238E27FC236}">
                    <a16:creationId xmlns:a16="http://schemas.microsoft.com/office/drawing/2014/main" id="{9FB361CB-BF7C-4379-A262-DA12809D1A91}"/>
                  </a:ext>
                </a:extLst>
              </p:cNvPr>
              <p:cNvGrpSpPr/>
              <p:nvPr/>
            </p:nvGrpSpPr>
            <p:grpSpPr>
              <a:xfrm>
                <a:off x="0" y="0"/>
                <a:ext cx="200704" cy="200704"/>
                <a:chOff x="0" y="0"/>
                <a:chExt cx="812800" cy="812800"/>
              </a:xfrm>
            </p:grpSpPr>
            <p:sp>
              <p:nvSpPr>
                <p:cNvPr id="42" name="Freeform 13">
                  <a:extLst>
                    <a:ext uri="{FF2B5EF4-FFF2-40B4-BE49-F238E27FC236}">
                      <a16:creationId xmlns:a16="http://schemas.microsoft.com/office/drawing/2014/main" id="{6AF5D009-7DD0-C237-4E3B-4FB5A361C5B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19050" cap="sq">
                  <a:solidFill>
                    <a:srgbClr val="767576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3" name="TextBox 14">
                  <a:extLst>
                    <a:ext uri="{FF2B5EF4-FFF2-40B4-BE49-F238E27FC236}">
                      <a16:creationId xmlns:a16="http://schemas.microsoft.com/office/drawing/2014/main" id="{132DED7F-B98D-FD3F-65B4-9C5AB9C300FE}"/>
                    </a:ext>
                  </a:extLst>
                </p:cNvPr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</p:grpSp>
        <p:sp>
          <p:nvSpPr>
            <p:cNvPr id="48" name="Freeform 62">
              <a:extLst>
                <a:ext uri="{FF2B5EF4-FFF2-40B4-BE49-F238E27FC236}">
                  <a16:creationId xmlns:a16="http://schemas.microsoft.com/office/drawing/2014/main" id="{2A8D7EC6-B6F7-8A18-443F-C6EECFF6957C}"/>
                </a:ext>
              </a:extLst>
            </p:cNvPr>
            <p:cNvSpPr/>
            <p:nvPr/>
          </p:nvSpPr>
          <p:spPr>
            <a:xfrm>
              <a:off x="4135860" y="1127395"/>
              <a:ext cx="2459797" cy="3428288"/>
            </a:xfrm>
            <a:custGeom>
              <a:avLst/>
              <a:gdLst/>
              <a:ahLst/>
              <a:cxnLst/>
              <a:rect l="l" t="t" r="r" b="b"/>
              <a:pathLst>
                <a:path w="2459797" h="3428288">
                  <a:moveTo>
                    <a:pt x="0" y="0"/>
                  </a:moveTo>
                  <a:lnTo>
                    <a:pt x="2459797" y="0"/>
                  </a:lnTo>
                  <a:lnTo>
                    <a:pt x="2459797" y="3428288"/>
                  </a:lnTo>
                  <a:lnTo>
                    <a:pt x="0" y="34282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9" b="-79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49" name="TextBox 68">
              <a:extLst>
                <a:ext uri="{FF2B5EF4-FFF2-40B4-BE49-F238E27FC236}">
                  <a16:creationId xmlns:a16="http://schemas.microsoft.com/office/drawing/2014/main" id="{F327399A-32DD-6126-779B-BF9BF69E5CEA}"/>
                </a:ext>
              </a:extLst>
            </p:cNvPr>
            <p:cNvSpPr txBox="1"/>
            <p:nvPr/>
          </p:nvSpPr>
          <p:spPr>
            <a:xfrm>
              <a:off x="4126829" y="4955913"/>
              <a:ext cx="2430040" cy="2597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862"/>
                </a:lnSpc>
              </a:pPr>
              <a:r>
                <a:rPr lang="en-US" sz="20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More than just a stay</a:t>
              </a:r>
            </a:p>
          </p:txBody>
        </p:sp>
        <p:sp>
          <p:nvSpPr>
            <p:cNvPr id="50" name="TextBox 70">
              <a:extLst>
                <a:ext uri="{FF2B5EF4-FFF2-40B4-BE49-F238E27FC236}">
                  <a16:creationId xmlns:a16="http://schemas.microsoft.com/office/drawing/2014/main" id="{BE0BA7A4-8FE7-1DB8-697B-68BB0757C435}"/>
                </a:ext>
              </a:extLst>
            </p:cNvPr>
            <p:cNvSpPr txBox="1"/>
            <p:nvPr/>
          </p:nvSpPr>
          <p:spPr>
            <a:xfrm>
              <a:off x="4217596" y="308598"/>
              <a:ext cx="2256807" cy="465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3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Services</a:t>
              </a:r>
            </a:p>
          </p:txBody>
        </p:sp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F007F748-A734-BE3D-E769-E77D83BE1AD9}"/>
              </a:ext>
            </a:extLst>
          </p:cNvPr>
          <p:cNvGrpSpPr/>
          <p:nvPr/>
        </p:nvGrpSpPr>
        <p:grpSpPr>
          <a:xfrm>
            <a:off x="7276451" y="577850"/>
            <a:ext cx="3183191" cy="5333655"/>
            <a:chOff x="7379884" y="570540"/>
            <a:chExt cx="3183191" cy="5333655"/>
          </a:xfrm>
        </p:grpSpPr>
        <p:sp>
          <p:nvSpPr>
            <p:cNvPr id="75" name="AutoShape 46">
              <a:extLst>
                <a:ext uri="{FF2B5EF4-FFF2-40B4-BE49-F238E27FC236}">
                  <a16:creationId xmlns:a16="http://schemas.microsoft.com/office/drawing/2014/main" id="{E74734CA-D745-6AAC-12E8-A9EC6ACC1CD6}"/>
                </a:ext>
              </a:extLst>
            </p:cNvPr>
            <p:cNvSpPr/>
            <p:nvPr/>
          </p:nvSpPr>
          <p:spPr>
            <a:xfrm flipV="1">
              <a:off x="8044254" y="4137051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76" name="Group 47">
              <a:extLst>
                <a:ext uri="{FF2B5EF4-FFF2-40B4-BE49-F238E27FC236}">
                  <a16:creationId xmlns:a16="http://schemas.microsoft.com/office/drawing/2014/main" id="{D2709D1E-A3A9-AE01-B4EB-1E7BDE893AB0}"/>
                </a:ext>
              </a:extLst>
            </p:cNvPr>
            <p:cNvGrpSpPr/>
            <p:nvPr/>
          </p:nvGrpSpPr>
          <p:grpSpPr>
            <a:xfrm>
              <a:off x="7379884" y="1481577"/>
              <a:ext cx="664370" cy="664370"/>
              <a:chOff x="0" y="0"/>
              <a:chExt cx="812800" cy="812800"/>
            </a:xfrm>
          </p:grpSpPr>
          <p:sp>
            <p:nvSpPr>
              <p:cNvPr id="77" name="Freeform 48">
                <a:extLst>
                  <a:ext uri="{FF2B5EF4-FFF2-40B4-BE49-F238E27FC236}">
                    <a16:creationId xmlns:a16="http://schemas.microsoft.com/office/drawing/2014/main" id="{C8D9FD35-B7E4-569D-EE87-0EB7C1F4511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8" name="TextBox 49">
                <a:extLst>
                  <a:ext uri="{FF2B5EF4-FFF2-40B4-BE49-F238E27FC236}">
                    <a16:creationId xmlns:a16="http://schemas.microsoft.com/office/drawing/2014/main" id="{C443DE2F-B6B5-40D8-EC04-ACD103CE8EB2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79" name="Group 50">
              <a:extLst>
                <a:ext uri="{FF2B5EF4-FFF2-40B4-BE49-F238E27FC236}">
                  <a16:creationId xmlns:a16="http://schemas.microsoft.com/office/drawing/2014/main" id="{2FBCD99F-9E66-ED87-D641-FDA17E20B04D}"/>
                </a:ext>
              </a:extLst>
            </p:cNvPr>
            <p:cNvGrpSpPr/>
            <p:nvPr/>
          </p:nvGrpSpPr>
          <p:grpSpPr>
            <a:xfrm>
              <a:off x="7379884" y="570540"/>
              <a:ext cx="664370" cy="664370"/>
              <a:chOff x="0" y="0"/>
              <a:chExt cx="812800" cy="812800"/>
            </a:xfrm>
          </p:grpSpPr>
          <p:sp>
            <p:nvSpPr>
              <p:cNvPr id="80" name="Freeform 51">
                <a:extLst>
                  <a:ext uri="{FF2B5EF4-FFF2-40B4-BE49-F238E27FC236}">
                    <a16:creationId xmlns:a16="http://schemas.microsoft.com/office/drawing/2014/main" id="{2E5CF0F2-9074-8B4E-7377-24767E3E82E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1" name="TextBox 52">
                <a:extLst>
                  <a:ext uri="{FF2B5EF4-FFF2-40B4-BE49-F238E27FC236}">
                    <a16:creationId xmlns:a16="http://schemas.microsoft.com/office/drawing/2014/main" id="{D8D52FF4-B4B3-7D44-E1A8-B492E29CBC15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82" name="Group 53">
              <a:extLst>
                <a:ext uri="{FF2B5EF4-FFF2-40B4-BE49-F238E27FC236}">
                  <a16:creationId xmlns:a16="http://schemas.microsoft.com/office/drawing/2014/main" id="{FE7D7820-4E10-16D6-AC64-5946CB04CC2E}"/>
                </a:ext>
              </a:extLst>
            </p:cNvPr>
            <p:cNvGrpSpPr/>
            <p:nvPr/>
          </p:nvGrpSpPr>
          <p:grpSpPr>
            <a:xfrm>
              <a:off x="7379884" y="2392549"/>
              <a:ext cx="664370" cy="664370"/>
              <a:chOff x="0" y="0"/>
              <a:chExt cx="812800" cy="812800"/>
            </a:xfrm>
          </p:grpSpPr>
          <p:sp>
            <p:nvSpPr>
              <p:cNvPr id="83" name="Freeform 54">
                <a:extLst>
                  <a:ext uri="{FF2B5EF4-FFF2-40B4-BE49-F238E27FC236}">
                    <a16:creationId xmlns:a16="http://schemas.microsoft.com/office/drawing/2014/main" id="{CBB3B1D6-EDF0-7F39-60CA-6B85823E5B3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4" name="TextBox 55">
                <a:extLst>
                  <a:ext uri="{FF2B5EF4-FFF2-40B4-BE49-F238E27FC236}">
                    <a16:creationId xmlns:a16="http://schemas.microsoft.com/office/drawing/2014/main" id="{47E26DA9-DE98-AA80-E923-5863BA0A3E2A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grpSp>
          <p:nvGrpSpPr>
            <p:cNvPr id="85" name="Group 56">
              <a:extLst>
                <a:ext uri="{FF2B5EF4-FFF2-40B4-BE49-F238E27FC236}">
                  <a16:creationId xmlns:a16="http://schemas.microsoft.com/office/drawing/2014/main" id="{F2BAA899-693C-119F-4D63-78060918D96B}"/>
                </a:ext>
              </a:extLst>
            </p:cNvPr>
            <p:cNvGrpSpPr/>
            <p:nvPr/>
          </p:nvGrpSpPr>
          <p:grpSpPr>
            <a:xfrm>
              <a:off x="7379884" y="3283809"/>
              <a:ext cx="664370" cy="664370"/>
              <a:chOff x="0" y="0"/>
              <a:chExt cx="812800" cy="812800"/>
            </a:xfrm>
          </p:grpSpPr>
          <p:sp>
            <p:nvSpPr>
              <p:cNvPr id="86" name="Freeform 57">
                <a:extLst>
                  <a:ext uri="{FF2B5EF4-FFF2-40B4-BE49-F238E27FC236}">
                    <a16:creationId xmlns:a16="http://schemas.microsoft.com/office/drawing/2014/main" id="{8B04B0BB-AFC0-BC12-BE3B-5195B0746432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7" name="TextBox 58">
                <a:extLst>
                  <a:ext uri="{FF2B5EF4-FFF2-40B4-BE49-F238E27FC236}">
                    <a16:creationId xmlns:a16="http://schemas.microsoft.com/office/drawing/2014/main" id="{380A6C6A-EDD5-FD6B-AECD-FF537557468D}"/>
                  </a:ext>
                </a:extLst>
              </p:cNvPr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88" name="AutoShape 59">
              <a:extLst>
                <a:ext uri="{FF2B5EF4-FFF2-40B4-BE49-F238E27FC236}">
                  <a16:creationId xmlns:a16="http://schemas.microsoft.com/office/drawing/2014/main" id="{2F399C55-20B5-D30F-81EE-BC125782DFD7}"/>
                </a:ext>
              </a:extLst>
            </p:cNvPr>
            <p:cNvSpPr/>
            <p:nvPr/>
          </p:nvSpPr>
          <p:spPr>
            <a:xfrm>
              <a:off x="8044254" y="2230690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AutoShape 60">
              <a:extLst>
                <a:ext uri="{FF2B5EF4-FFF2-40B4-BE49-F238E27FC236}">
                  <a16:creationId xmlns:a16="http://schemas.microsoft.com/office/drawing/2014/main" id="{A3D9BF46-7A49-F797-4D36-43BD855308BD}"/>
                </a:ext>
              </a:extLst>
            </p:cNvPr>
            <p:cNvSpPr/>
            <p:nvPr/>
          </p:nvSpPr>
          <p:spPr>
            <a:xfrm>
              <a:off x="8044254" y="1319652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AutoShape 61">
              <a:extLst>
                <a:ext uri="{FF2B5EF4-FFF2-40B4-BE49-F238E27FC236}">
                  <a16:creationId xmlns:a16="http://schemas.microsoft.com/office/drawing/2014/main" id="{65C4C685-3B2F-36E8-3567-9E08A6BA0F83}"/>
                </a:ext>
              </a:extLst>
            </p:cNvPr>
            <p:cNvSpPr/>
            <p:nvPr/>
          </p:nvSpPr>
          <p:spPr>
            <a:xfrm>
              <a:off x="8044254" y="3214398"/>
              <a:ext cx="1417186" cy="0"/>
            </a:xfrm>
            <a:prstGeom prst="line">
              <a:avLst/>
            </a:prstGeom>
            <a:ln w="19050" cap="rnd">
              <a:solidFill>
                <a:srgbClr val="767576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TextBox 64">
              <a:extLst>
                <a:ext uri="{FF2B5EF4-FFF2-40B4-BE49-F238E27FC236}">
                  <a16:creationId xmlns:a16="http://schemas.microsoft.com/office/drawing/2014/main" id="{DBB34263-1106-BF65-81E3-5EB2CEE4C983}"/>
                </a:ext>
              </a:extLst>
            </p:cNvPr>
            <p:cNvSpPr txBox="1"/>
            <p:nvPr/>
          </p:nvSpPr>
          <p:spPr>
            <a:xfrm>
              <a:off x="7748816" y="3376323"/>
              <a:ext cx="2376153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75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Luggage Storage</a:t>
              </a:r>
            </a:p>
            <a:p>
              <a:pPr algn="l">
                <a:lnSpc>
                  <a:spcPts val="1375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You can store your luggage for 24 hours on the 1st floor.</a:t>
              </a:r>
            </a:p>
          </p:txBody>
        </p:sp>
        <p:sp>
          <p:nvSpPr>
            <p:cNvPr id="93" name="TextBox 65">
              <a:extLst>
                <a:ext uri="{FF2B5EF4-FFF2-40B4-BE49-F238E27FC236}">
                  <a16:creationId xmlns:a16="http://schemas.microsoft.com/office/drawing/2014/main" id="{D14D7145-64A5-1DC1-1E19-EF07719A5EA5}"/>
                </a:ext>
              </a:extLst>
            </p:cNvPr>
            <p:cNvSpPr txBox="1"/>
            <p:nvPr/>
          </p:nvSpPr>
          <p:spPr>
            <a:xfrm>
              <a:off x="7748816" y="2433348"/>
              <a:ext cx="2721744" cy="5010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31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Courier Deliveries</a:t>
              </a:r>
            </a:p>
            <a:p>
              <a:pPr algn="l">
                <a:lnSpc>
                  <a:spcPts val="1331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Couriers are not allowed on guest floors.</a:t>
              </a:r>
            </a:p>
            <a:p>
              <a:pPr algn="l">
                <a:lnSpc>
                  <a:spcPts val="1331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Orders can be collected in the lobby.</a:t>
              </a:r>
            </a:p>
          </p:txBody>
        </p:sp>
        <p:sp>
          <p:nvSpPr>
            <p:cNvPr id="94" name="TextBox 66">
              <a:extLst>
                <a:ext uri="{FF2B5EF4-FFF2-40B4-BE49-F238E27FC236}">
                  <a16:creationId xmlns:a16="http://schemas.microsoft.com/office/drawing/2014/main" id="{2EADED7D-2F1F-BFC7-BA81-EEFD53C9CA4C}"/>
                </a:ext>
              </a:extLst>
            </p:cNvPr>
            <p:cNvSpPr txBox="1"/>
            <p:nvPr/>
          </p:nvSpPr>
          <p:spPr>
            <a:xfrm>
              <a:off x="7712069" y="601426"/>
              <a:ext cx="2376153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75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Housekeeping</a:t>
              </a:r>
            </a:p>
            <a:p>
              <a:pPr algn="l">
                <a:lnSpc>
                  <a:spcPts val="1375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Daily before 18:00.</a:t>
              </a:r>
            </a:p>
            <a:p>
              <a:pPr algn="l">
                <a:lnSpc>
                  <a:spcPts val="1375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Linen change — on the 3th day.</a:t>
              </a:r>
            </a:p>
          </p:txBody>
        </p:sp>
        <p:sp>
          <p:nvSpPr>
            <p:cNvPr id="95" name="TextBox 67">
              <a:extLst>
                <a:ext uri="{FF2B5EF4-FFF2-40B4-BE49-F238E27FC236}">
                  <a16:creationId xmlns:a16="http://schemas.microsoft.com/office/drawing/2014/main" id="{D3172924-4B50-CC1E-164F-15A34AC48C6B}"/>
                </a:ext>
              </a:extLst>
            </p:cNvPr>
            <p:cNvSpPr txBox="1"/>
            <p:nvPr/>
          </p:nvSpPr>
          <p:spPr>
            <a:xfrm>
              <a:off x="7712069" y="1571301"/>
              <a:ext cx="2851006" cy="53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86"/>
                </a:lnSpc>
              </a:pPr>
              <a:r>
                <a:rPr lang="en-US" sz="1109" b="1" dirty="0">
                  <a:solidFill>
                    <a:srgbClr val="000000"/>
                  </a:solidFill>
                  <a:latin typeface="Circe Bold"/>
                  <a:ea typeface="Circe Bold"/>
                  <a:cs typeface="Circe Bold"/>
                  <a:sym typeface="Circe Bold"/>
                </a:rPr>
                <a:t>Item Rental</a:t>
              </a:r>
            </a:p>
            <a:p>
              <a:pPr algn="l">
                <a:lnSpc>
                  <a:spcPts val="1386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Vases, various pillows, baby items </a:t>
              </a:r>
            </a:p>
            <a:p>
              <a:pPr algn="l">
                <a:lnSpc>
                  <a:spcPts val="1386"/>
                </a:lnSpc>
              </a:pPr>
              <a:r>
                <a:rPr lang="en-US" sz="110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— available on request at reception.</a:t>
              </a:r>
            </a:p>
          </p:txBody>
        </p:sp>
        <p:sp>
          <p:nvSpPr>
            <p:cNvPr id="96" name="TextBox 71">
              <a:extLst>
                <a:ext uri="{FF2B5EF4-FFF2-40B4-BE49-F238E27FC236}">
                  <a16:creationId xmlns:a16="http://schemas.microsoft.com/office/drawing/2014/main" id="{E2A3546F-DB04-AB51-A7DA-FEB1570F1F2E}"/>
                </a:ext>
              </a:extLst>
            </p:cNvPr>
            <p:cNvSpPr txBox="1"/>
            <p:nvPr/>
          </p:nvSpPr>
          <p:spPr>
            <a:xfrm>
              <a:off x="7779318" y="4424139"/>
              <a:ext cx="2654703" cy="6649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13"/>
                </a:lnSpc>
              </a:pPr>
              <a:r>
                <a:rPr lang="en-US" sz="27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Electronic </a:t>
              </a:r>
            </a:p>
            <a:p>
              <a:pPr algn="ctr">
                <a:lnSpc>
                  <a:spcPts val="2513"/>
                </a:lnSpc>
              </a:pPr>
              <a:r>
                <a:rPr lang="en-US" sz="27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Guest Book</a:t>
              </a:r>
            </a:p>
          </p:txBody>
        </p:sp>
        <p:sp>
          <p:nvSpPr>
            <p:cNvPr id="97" name="TextBox 72">
              <a:extLst>
                <a:ext uri="{FF2B5EF4-FFF2-40B4-BE49-F238E27FC236}">
                  <a16:creationId xmlns:a16="http://schemas.microsoft.com/office/drawing/2014/main" id="{17D19119-F4CB-FFA3-FA4D-1D346DF8A703}"/>
                </a:ext>
              </a:extLst>
            </p:cNvPr>
            <p:cNvSpPr txBox="1"/>
            <p:nvPr/>
          </p:nvSpPr>
          <p:spPr>
            <a:xfrm>
              <a:off x="7841076" y="5304928"/>
              <a:ext cx="2396687" cy="599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Full list of services and useful information</a:t>
              </a:r>
            </a:p>
            <a:p>
              <a:pPr algn="ctr">
                <a:lnSpc>
                  <a:spcPts val="1556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— in the electronic guest book</a:t>
              </a:r>
            </a:p>
            <a:p>
              <a:pPr algn="ctr">
                <a:lnSpc>
                  <a:spcPts val="1556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(scan the QR code below)</a:t>
              </a:r>
            </a:p>
          </p:txBody>
        </p:sp>
      </p:grpSp>
      <p:sp>
        <p:nvSpPr>
          <p:cNvPr id="63" name="TextBox 70">
            <a:extLst>
              <a:ext uri="{FF2B5EF4-FFF2-40B4-BE49-F238E27FC236}">
                <a16:creationId xmlns:a16="http://schemas.microsoft.com/office/drawing/2014/main" id="{335DF811-F18E-35CC-C1D1-AD055EE80637}"/>
              </a:ext>
            </a:extLst>
          </p:cNvPr>
          <p:cNvSpPr txBox="1"/>
          <p:nvPr/>
        </p:nvSpPr>
        <p:spPr>
          <a:xfrm>
            <a:off x="3921348" y="6359837"/>
            <a:ext cx="3043267" cy="55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91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Breakfasts, flowers, excursions  —</a:t>
            </a:r>
          </a:p>
          <a:p>
            <a:pPr algn="ctr">
              <a:lnSpc>
                <a:spcPts val="1556"/>
              </a:lnSpc>
            </a:pPr>
            <a:r>
              <a:rPr lang="en-US" sz="91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live like at home, relax like in a hotel.</a:t>
            </a:r>
          </a:p>
          <a:p>
            <a:pPr algn="ctr">
              <a:lnSpc>
                <a:spcPts val="1556"/>
              </a:lnSpc>
            </a:pPr>
            <a:r>
              <a:rPr lang="en-US" sz="91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rPr>
              <a:t>All services — within reach. Just ask at reception!</a:t>
            </a:r>
          </a:p>
        </p:txBody>
      </p:sp>
      <p:sp>
        <p:nvSpPr>
          <p:cNvPr id="64" name="Freeform 60">
            <a:extLst>
              <a:ext uri="{FF2B5EF4-FFF2-40B4-BE49-F238E27FC236}">
                <a16:creationId xmlns:a16="http://schemas.microsoft.com/office/drawing/2014/main" id="{DF65C48D-5BD7-C0F5-BBE7-8D0FA6989CC9}"/>
              </a:ext>
            </a:extLst>
          </p:cNvPr>
          <p:cNvSpPr/>
          <p:nvPr/>
        </p:nvSpPr>
        <p:spPr>
          <a:xfrm>
            <a:off x="8481139" y="6037009"/>
            <a:ext cx="1050231" cy="1050231"/>
          </a:xfrm>
          <a:custGeom>
            <a:avLst/>
            <a:gdLst/>
            <a:ahLst/>
            <a:cxnLst/>
            <a:rect l="l" t="t" r="r" b="b"/>
            <a:pathLst>
              <a:path w="1050231" h="1050231">
                <a:moveTo>
                  <a:pt x="0" y="0"/>
                </a:moveTo>
                <a:lnTo>
                  <a:pt x="1050231" y="0"/>
                </a:lnTo>
                <a:lnTo>
                  <a:pt x="1050231" y="1050230"/>
                </a:lnTo>
                <a:lnTo>
                  <a:pt x="0" y="1050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898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C682FFE1-D131-B4C4-79D0-A703AB8F6157}"/>
              </a:ext>
            </a:extLst>
          </p:cNvPr>
          <p:cNvGrpSpPr/>
          <p:nvPr/>
        </p:nvGrpSpPr>
        <p:grpSpPr>
          <a:xfrm>
            <a:off x="88900" y="2025650"/>
            <a:ext cx="3437775" cy="2735778"/>
            <a:chOff x="108000" y="1898877"/>
            <a:chExt cx="3437775" cy="2735778"/>
          </a:xfrm>
        </p:grpSpPr>
        <p:grpSp>
          <p:nvGrpSpPr>
            <p:cNvPr id="3" name="Group 11">
              <a:extLst>
                <a:ext uri="{FF2B5EF4-FFF2-40B4-BE49-F238E27FC236}">
                  <a16:creationId xmlns:a16="http://schemas.microsoft.com/office/drawing/2014/main" id="{6582FEF0-A87E-3FD0-AC60-4B97D0A12076}"/>
                </a:ext>
              </a:extLst>
            </p:cNvPr>
            <p:cNvGrpSpPr/>
            <p:nvPr/>
          </p:nvGrpSpPr>
          <p:grpSpPr>
            <a:xfrm>
              <a:off x="108000" y="1898877"/>
              <a:ext cx="3437775" cy="2142431"/>
              <a:chOff x="0" y="95250"/>
              <a:chExt cx="4583700" cy="2856574"/>
            </a:xfrm>
          </p:grpSpPr>
          <p:grpSp>
            <p:nvGrpSpPr>
              <p:cNvPr id="4" name="Group 12">
                <a:extLst>
                  <a:ext uri="{FF2B5EF4-FFF2-40B4-BE49-F238E27FC236}">
                    <a16:creationId xmlns:a16="http://schemas.microsoft.com/office/drawing/2014/main" id="{E722D089-FF19-05F3-C8BB-8D007E4D6D5A}"/>
                  </a:ext>
                </a:extLst>
              </p:cNvPr>
              <p:cNvGrpSpPr/>
              <p:nvPr/>
            </p:nvGrpSpPr>
            <p:grpSpPr>
              <a:xfrm>
                <a:off x="0" y="2226112"/>
                <a:ext cx="4583700" cy="725712"/>
                <a:chOff x="0" y="-28575"/>
                <a:chExt cx="1309133" cy="207268"/>
              </a:xfrm>
            </p:grpSpPr>
            <p:sp>
              <p:nvSpPr>
                <p:cNvPr id="10" name="Freeform 13">
                  <a:extLst>
                    <a:ext uri="{FF2B5EF4-FFF2-40B4-BE49-F238E27FC236}">
                      <a16:creationId xmlns:a16="http://schemas.microsoft.com/office/drawing/2014/main" id="{21FC1713-DF76-390C-8C8C-12C5D0F43C2A}"/>
                    </a:ext>
                  </a:extLst>
                </p:cNvPr>
                <p:cNvSpPr/>
                <p:nvPr/>
              </p:nvSpPr>
              <p:spPr>
                <a:xfrm>
                  <a:off x="58035" y="0"/>
                  <a:ext cx="1160704" cy="178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133" h="178693">
                      <a:moveTo>
                        <a:pt x="0" y="0"/>
                      </a:moveTo>
                      <a:lnTo>
                        <a:pt x="1309133" y="0"/>
                      </a:lnTo>
                      <a:lnTo>
                        <a:pt x="1309133" y="178693"/>
                      </a:lnTo>
                      <a:lnTo>
                        <a:pt x="0" y="178693"/>
                      </a:ln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1" name="TextBox 14">
                  <a:extLst>
                    <a:ext uri="{FF2B5EF4-FFF2-40B4-BE49-F238E27FC236}">
                      <a16:creationId xmlns:a16="http://schemas.microsoft.com/office/drawing/2014/main" id="{5B6420EB-E6FE-2DCC-F028-87ABBF936403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309133" cy="207268"/>
                </a:xfrm>
                <a:prstGeom prst="rect">
                  <a:avLst/>
                </a:prstGeom>
              </p:spPr>
              <p:txBody>
                <a:bodyPr lIns="47808" tIns="47808" rIns="47808" bIns="47808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grpSp>
            <p:nvGrpSpPr>
              <p:cNvPr id="5" name="Group 15">
                <a:extLst>
                  <a:ext uri="{FF2B5EF4-FFF2-40B4-BE49-F238E27FC236}">
                    <a16:creationId xmlns:a16="http://schemas.microsoft.com/office/drawing/2014/main" id="{B2087990-6C73-CEE5-F7F2-E1CC8AA14CBD}"/>
                  </a:ext>
                </a:extLst>
              </p:cNvPr>
              <p:cNvGrpSpPr/>
              <p:nvPr/>
            </p:nvGrpSpPr>
            <p:grpSpPr>
              <a:xfrm>
                <a:off x="0" y="1187039"/>
                <a:ext cx="4583700" cy="725712"/>
                <a:chOff x="0" y="-28575"/>
                <a:chExt cx="1309133" cy="207268"/>
              </a:xfrm>
            </p:grpSpPr>
            <p:sp>
              <p:nvSpPr>
                <p:cNvPr id="8" name="Freeform 16">
                  <a:extLst>
                    <a:ext uri="{FF2B5EF4-FFF2-40B4-BE49-F238E27FC236}">
                      <a16:creationId xmlns:a16="http://schemas.microsoft.com/office/drawing/2014/main" id="{76BA1EA6-ACE4-723E-EBEA-4A4F72F6AE8E}"/>
                    </a:ext>
                  </a:extLst>
                </p:cNvPr>
                <p:cNvSpPr/>
                <p:nvPr/>
              </p:nvSpPr>
              <p:spPr>
                <a:xfrm>
                  <a:off x="58035" y="0"/>
                  <a:ext cx="1160704" cy="1786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133" h="178693">
                      <a:moveTo>
                        <a:pt x="0" y="0"/>
                      </a:moveTo>
                      <a:lnTo>
                        <a:pt x="1309133" y="0"/>
                      </a:lnTo>
                      <a:lnTo>
                        <a:pt x="1309133" y="178693"/>
                      </a:lnTo>
                      <a:lnTo>
                        <a:pt x="0" y="178693"/>
                      </a:lnTo>
                      <a:close/>
                    </a:path>
                  </a:pathLst>
                </a:custGeom>
                <a:solidFill>
                  <a:srgbClr val="EBE7E7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" name="TextBox 17">
                  <a:extLst>
                    <a:ext uri="{FF2B5EF4-FFF2-40B4-BE49-F238E27FC236}">
                      <a16:creationId xmlns:a16="http://schemas.microsoft.com/office/drawing/2014/main" id="{F5CB7D5F-50EE-00A3-9EDF-A8DD61E909D4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309133" cy="207268"/>
                </a:xfrm>
                <a:prstGeom prst="rect">
                  <a:avLst/>
                </a:prstGeom>
              </p:spPr>
              <p:txBody>
                <a:bodyPr lIns="47808" tIns="47808" rIns="47808" bIns="47808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  <p:sp>
            <p:nvSpPr>
              <p:cNvPr id="6" name="TextBox 18">
                <a:extLst>
                  <a:ext uri="{FF2B5EF4-FFF2-40B4-BE49-F238E27FC236}">
                    <a16:creationId xmlns:a16="http://schemas.microsoft.com/office/drawing/2014/main" id="{C3B6AA32-DFE2-ADFE-6C0E-59933BF62FA0}"/>
                  </a:ext>
                </a:extLst>
              </p:cNvPr>
              <p:cNvSpPr txBox="1"/>
              <p:nvPr/>
            </p:nvSpPr>
            <p:spPr>
              <a:xfrm>
                <a:off x="792687" y="95250"/>
                <a:ext cx="2950744" cy="628286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0"/>
                  </a:lnSpc>
                </a:pPr>
                <a:r>
                  <a:rPr lang="en-US" sz="3603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wi-fi</a:t>
                </a:r>
              </a:p>
            </p:txBody>
          </p:sp>
          <p:sp>
            <p:nvSpPr>
              <p:cNvPr id="7" name="TextBox 19">
                <a:extLst>
                  <a:ext uri="{FF2B5EF4-FFF2-40B4-BE49-F238E27FC236}">
                    <a16:creationId xmlns:a16="http://schemas.microsoft.com/office/drawing/2014/main" id="{C4677AA2-A896-DD88-C1EE-CC60EC2881E1}"/>
                  </a:ext>
                </a:extLst>
              </p:cNvPr>
              <p:cNvSpPr txBox="1"/>
              <p:nvPr/>
            </p:nvSpPr>
            <p:spPr>
              <a:xfrm>
                <a:off x="616879" y="1464854"/>
                <a:ext cx="3447121" cy="29204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1675"/>
                  </a:lnSpc>
                </a:pPr>
                <a:r>
                  <a:rPr lang="en-US" sz="1444" dirty="0">
                    <a:solidFill>
                      <a:srgbClr val="000000"/>
                    </a:solidFill>
                    <a:latin typeface="Circe"/>
                    <a:ea typeface="Circe"/>
                    <a:cs typeface="Circe"/>
                    <a:sym typeface="Circe"/>
                  </a:rPr>
                  <a:t>network : ARTSTUDIO NEVSKY</a:t>
                </a:r>
              </a:p>
            </p:txBody>
          </p:sp>
        </p:grpSp>
        <p:sp>
          <p:nvSpPr>
            <p:cNvPr id="12" name="TextBox 23">
              <a:extLst>
                <a:ext uri="{FF2B5EF4-FFF2-40B4-BE49-F238E27FC236}">
                  <a16:creationId xmlns:a16="http://schemas.microsoft.com/office/drawing/2014/main" id="{B648583E-10F9-5EDB-4AA6-0B597ABBD321}"/>
                </a:ext>
              </a:extLst>
            </p:cNvPr>
            <p:cNvSpPr txBox="1"/>
            <p:nvPr/>
          </p:nvSpPr>
          <p:spPr>
            <a:xfrm>
              <a:off x="570660" y="3707776"/>
              <a:ext cx="2585340" cy="2188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670"/>
                </a:lnSpc>
              </a:pPr>
              <a:r>
                <a:rPr lang="en-US" sz="1439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password: </a:t>
              </a:r>
            </a:p>
          </p:txBody>
        </p:sp>
        <p:sp>
          <p:nvSpPr>
            <p:cNvPr id="13" name="TextBox 20">
              <a:extLst>
                <a:ext uri="{FF2B5EF4-FFF2-40B4-BE49-F238E27FC236}">
                  <a16:creationId xmlns:a16="http://schemas.microsoft.com/office/drawing/2014/main" id="{D05BFC3D-9BF6-EF0A-76A5-5BF7FFB5C7BB}"/>
                </a:ext>
              </a:extLst>
            </p:cNvPr>
            <p:cNvSpPr txBox="1"/>
            <p:nvPr/>
          </p:nvSpPr>
          <p:spPr>
            <a:xfrm>
              <a:off x="618768" y="4150805"/>
              <a:ext cx="2212514" cy="48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The code is secure and unique </a:t>
              </a: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— valid only for your room.</a:t>
              </a:r>
            </a:p>
          </p:txBody>
        </p:sp>
      </p:grpSp>
      <p:sp>
        <p:nvSpPr>
          <p:cNvPr id="17" name="TextBox 23">
            <a:extLst>
              <a:ext uri="{FF2B5EF4-FFF2-40B4-BE49-F238E27FC236}">
                <a16:creationId xmlns:a16="http://schemas.microsoft.com/office/drawing/2014/main" id="{722296F3-31AA-BC93-A776-2E34867D1754}"/>
              </a:ext>
            </a:extLst>
          </p:cNvPr>
          <p:cNvSpPr txBox="1"/>
          <p:nvPr/>
        </p:nvSpPr>
        <p:spPr>
          <a:xfrm>
            <a:off x="980939" y="3676960"/>
            <a:ext cx="2350430" cy="39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</a:pPr>
            <a:r>
              <a:rPr dirty="0">
                <a:latin typeface="Circe" panose="020B0502020203020203" pitchFamily="34" charset="-52"/>
              </a:rPr>
              <a:t>{{PASSWORD}}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63DDB-024D-E54C-F4F5-21B48D781854}"/>
              </a:ext>
            </a:extLst>
          </p:cNvPr>
          <p:cNvSpPr txBox="1"/>
          <p:nvPr/>
        </p:nvSpPr>
        <p:spPr>
          <a:xfrm>
            <a:off x="1051974" y="5113311"/>
            <a:ext cx="1307902" cy="130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{{QR_WIFI}}</a:t>
            </a:r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31BAEC2-DD69-3EB3-1628-C02EB991514D}"/>
              </a:ext>
            </a:extLst>
          </p:cNvPr>
          <p:cNvGrpSpPr/>
          <p:nvPr/>
        </p:nvGrpSpPr>
        <p:grpSpPr>
          <a:xfrm>
            <a:off x="3554632" y="1257973"/>
            <a:ext cx="3582737" cy="4413839"/>
            <a:chOff x="3554632" y="1257973"/>
            <a:chExt cx="3582737" cy="4413839"/>
          </a:xfrm>
        </p:grpSpPr>
        <p:grpSp>
          <p:nvGrpSpPr>
            <p:cNvPr id="19" name="Group 2">
              <a:extLst>
                <a:ext uri="{FF2B5EF4-FFF2-40B4-BE49-F238E27FC236}">
                  <a16:creationId xmlns:a16="http://schemas.microsoft.com/office/drawing/2014/main" id="{3FD1D5E6-19BB-FEA7-7CE8-527A8C912757}"/>
                </a:ext>
              </a:extLst>
            </p:cNvPr>
            <p:cNvGrpSpPr/>
            <p:nvPr/>
          </p:nvGrpSpPr>
          <p:grpSpPr>
            <a:xfrm>
              <a:off x="3554632" y="3476840"/>
              <a:ext cx="3582737" cy="516647"/>
              <a:chOff x="11809" y="50579"/>
              <a:chExt cx="4776982" cy="688862"/>
            </a:xfrm>
          </p:grpSpPr>
          <p:sp>
            <p:nvSpPr>
              <p:cNvPr id="20" name="AutoShape 3">
                <a:extLst>
                  <a:ext uri="{FF2B5EF4-FFF2-40B4-BE49-F238E27FC236}">
                    <a16:creationId xmlns:a16="http://schemas.microsoft.com/office/drawing/2014/main" id="{F6C4E464-4D38-26F4-123B-4F421C11995C}"/>
                  </a:ext>
                </a:extLst>
              </p:cNvPr>
              <p:cNvSpPr/>
              <p:nvPr/>
            </p:nvSpPr>
            <p:spPr>
              <a:xfrm>
                <a:off x="64432" y="50579"/>
                <a:ext cx="4673601" cy="23"/>
              </a:xfrm>
              <a:prstGeom prst="line">
                <a:avLst/>
              </a:prstGeom>
              <a:ln>
                <a:solidFill>
                  <a:srgbClr val="767576"/>
                </a:solidFill>
                <a:headEnd type="none" w="sm" len="sm"/>
                <a:tailEnd type="none" w="sm" len="sm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/>
              </a:p>
            </p:txBody>
          </p:sp>
          <p:grpSp>
            <p:nvGrpSpPr>
              <p:cNvPr id="21" name="Group 4">
                <a:extLst>
                  <a:ext uri="{FF2B5EF4-FFF2-40B4-BE49-F238E27FC236}">
                    <a16:creationId xmlns:a16="http://schemas.microsoft.com/office/drawing/2014/main" id="{EFB8CD70-6E59-651B-A6AC-DCE8158FD3C9}"/>
                  </a:ext>
                </a:extLst>
              </p:cNvPr>
              <p:cNvGrpSpPr/>
              <p:nvPr/>
            </p:nvGrpSpPr>
            <p:grpSpPr>
              <a:xfrm>
                <a:off x="11809" y="84187"/>
                <a:ext cx="4776982" cy="655254"/>
                <a:chOff x="0" y="-28575"/>
                <a:chExt cx="1283972" cy="176121"/>
              </a:xfrm>
            </p:grpSpPr>
            <p:sp>
              <p:nvSpPr>
                <p:cNvPr id="23" name="Freeform 5">
                  <a:extLst>
                    <a:ext uri="{FF2B5EF4-FFF2-40B4-BE49-F238E27FC236}">
                      <a16:creationId xmlns:a16="http://schemas.microsoft.com/office/drawing/2014/main" id="{FEFA54D7-4DD4-3E0F-6946-B533476A049C}"/>
                    </a:ext>
                  </a:extLst>
                </p:cNvPr>
                <p:cNvSpPr/>
                <p:nvPr/>
              </p:nvSpPr>
              <p:spPr>
                <a:xfrm>
                  <a:off x="14144" y="0"/>
                  <a:ext cx="1256185" cy="147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3972" h="147546">
                      <a:moveTo>
                        <a:pt x="0" y="0"/>
                      </a:moveTo>
                      <a:lnTo>
                        <a:pt x="1283972" y="0"/>
                      </a:lnTo>
                      <a:lnTo>
                        <a:pt x="1283972" y="147546"/>
                      </a:lnTo>
                      <a:lnTo>
                        <a:pt x="0" y="147546"/>
                      </a:lnTo>
                      <a:close/>
                    </a:path>
                  </a:pathLst>
                </a:custGeom>
                <a:solidFill>
                  <a:srgbClr val="767576"/>
                </a:solidFill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4" name="TextBox 6">
                  <a:extLst>
                    <a:ext uri="{FF2B5EF4-FFF2-40B4-BE49-F238E27FC236}">
                      <a16:creationId xmlns:a16="http://schemas.microsoft.com/office/drawing/2014/main" id="{9D43BC0F-FA61-102B-3819-088AC6722743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1283972" cy="176121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1664"/>
                    </a:lnSpc>
                  </a:pPr>
                  <a:endParaRPr/>
                </a:p>
              </p:txBody>
            </p:sp>
          </p:grpSp>
        </p:grp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D95093AC-1D7F-FCDC-FADB-288C2C96476A}"/>
                </a:ext>
              </a:extLst>
            </p:cNvPr>
            <p:cNvSpPr txBox="1"/>
            <p:nvPr/>
          </p:nvSpPr>
          <p:spPr>
            <a:xfrm>
              <a:off x="4170785" y="4618066"/>
              <a:ext cx="2350430" cy="465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0"/>
                </a:lnSpc>
              </a:pPr>
              <a:r>
                <a:rPr lang="en-US" sz="3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merch</a:t>
              </a:r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3AD8E4C-8BCA-A6B8-9885-58688927915D}"/>
                </a:ext>
              </a:extLst>
            </p:cNvPr>
            <p:cNvSpPr txBox="1"/>
            <p:nvPr/>
          </p:nvSpPr>
          <p:spPr>
            <a:xfrm>
              <a:off x="3790720" y="1257973"/>
              <a:ext cx="3110559" cy="1765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 space where art, the city, and people meet.</a:t>
              </a: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You are not just guests of the aparthotel — you are co-creators of the atmosphere, witnesses to cultural events, and part of the visual story of ARTSTUDIO.</a:t>
              </a:r>
            </a:p>
            <a:p>
              <a:pPr algn="ctr">
                <a:lnSpc>
                  <a:spcPts val="2038"/>
                </a:lnSpc>
              </a:pPr>
              <a:endParaRPr lang="en-US" sz="910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We truly appreciate it when you share your photos </a:t>
              </a: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and tag us on social media!</a:t>
              </a: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4559BC32-A4CD-D5BD-2679-DB2560225136}"/>
                </a:ext>
              </a:extLst>
            </p:cNvPr>
            <p:cNvSpPr txBox="1"/>
            <p:nvPr/>
          </p:nvSpPr>
          <p:spPr>
            <a:xfrm>
              <a:off x="3790720" y="5277730"/>
              <a:ext cx="3110559" cy="394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56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Signature pajamas, candles, and souvenirs —</a:t>
              </a:r>
            </a:p>
            <a:p>
              <a:pPr algn="ctr">
                <a:lnSpc>
                  <a:spcPts val="1556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all available at reception.</a:t>
              </a:r>
            </a:p>
          </p:txBody>
        </p:sp>
      </p:grpSp>
      <p:sp>
        <p:nvSpPr>
          <p:cNvPr id="31" name="AutoShape 3">
            <a:extLst>
              <a:ext uri="{FF2B5EF4-FFF2-40B4-BE49-F238E27FC236}">
                <a16:creationId xmlns:a16="http://schemas.microsoft.com/office/drawing/2014/main" id="{2FE056CF-6B28-E0B3-8B8A-0F1C9F334BD4}"/>
              </a:ext>
            </a:extLst>
          </p:cNvPr>
          <p:cNvSpPr/>
          <p:nvPr/>
        </p:nvSpPr>
        <p:spPr>
          <a:xfrm>
            <a:off x="3593398" y="4073222"/>
            <a:ext cx="3505201" cy="17"/>
          </a:xfrm>
          <a:prstGeom prst="line">
            <a:avLst/>
          </a:prstGeom>
          <a:ln>
            <a:solidFill>
              <a:srgbClr val="767576"/>
            </a:solidFill>
            <a:headEnd type="none" w="sm" len="sm"/>
            <a:tailEnd type="none" w="sm" len="sm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4938EAC-8025-8A44-D7A3-509B8FC1AB44}"/>
              </a:ext>
            </a:extLst>
          </p:cNvPr>
          <p:cNvGrpSpPr/>
          <p:nvPr/>
        </p:nvGrpSpPr>
        <p:grpSpPr>
          <a:xfrm>
            <a:off x="7411346" y="350058"/>
            <a:ext cx="3110559" cy="6670104"/>
            <a:chOff x="7415808" y="323006"/>
            <a:chExt cx="3110559" cy="6670104"/>
          </a:xfrm>
        </p:grpSpPr>
        <p:grpSp>
          <p:nvGrpSpPr>
            <p:cNvPr id="32" name="Group 8">
              <a:extLst>
                <a:ext uri="{FF2B5EF4-FFF2-40B4-BE49-F238E27FC236}">
                  <a16:creationId xmlns:a16="http://schemas.microsoft.com/office/drawing/2014/main" id="{D4CFEBC2-5DA0-4139-FFEC-E1E0231CF663}"/>
                </a:ext>
              </a:extLst>
            </p:cNvPr>
            <p:cNvGrpSpPr/>
            <p:nvPr/>
          </p:nvGrpSpPr>
          <p:grpSpPr>
            <a:xfrm>
              <a:off x="7762875" y="323006"/>
              <a:ext cx="2328525" cy="2066314"/>
              <a:chOff x="0" y="0"/>
              <a:chExt cx="834491" cy="740520"/>
            </a:xfrm>
          </p:grpSpPr>
          <p:sp>
            <p:nvSpPr>
              <p:cNvPr id="33" name="Freeform 9">
                <a:extLst>
                  <a:ext uri="{FF2B5EF4-FFF2-40B4-BE49-F238E27FC236}">
                    <a16:creationId xmlns:a16="http://schemas.microsoft.com/office/drawing/2014/main" id="{9878EB62-1394-0990-D065-DCA024201358}"/>
                  </a:ext>
                </a:extLst>
              </p:cNvPr>
              <p:cNvSpPr/>
              <p:nvPr/>
            </p:nvSpPr>
            <p:spPr>
              <a:xfrm>
                <a:off x="0" y="0"/>
                <a:ext cx="834491" cy="740520"/>
              </a:xfrm>
              <a:custGeom>
                <a:avLst/>
                <a:gdLst/>
                <a:ahLst/>
                <a:cxnLst/>
                <a:rect l="l" t="t" r="r" b="b"/>
                <a:pathLst>
                  <a:path w="834491" h="740520">
                    <a:moveTo>
                      <a:pt x="278314" y="721451"/>
                    </a:moveTo>
                    <a:cubicBezTo>
                      <a:pt x="321096" y="732965"/>
                      <a:pt x="369734" y="740520"/>
                      <a:pt x="417470" y="740520"/>
                    </a:cubicBezTo>
                    <a:cubicBezTo>
                      <a:pt x="465208" y="740520"/>
                      <a:pt x="511143" y="734043"/>
                      <a:pt x="553474" y="722529"/>
                    </a:cubicBezTo>
                    <a:cubicBezTo>
                      <a:pt x="554376" y="722170"/>
                      <a:pt x="555277" y="722170"/>
                      <a:pt x="556177" y="721811"/>
                    </a:cubicBezTo>
                    <a:cubicBezTo>
                      <a:pt x="715149" y="675755"/>
                      <a:pt x="832239" y="554141"/>
                      <a:pt x="834491" y="413624"/>
                    </a:cubicBezTo>
                    <a:lnTo>
                      <a:pt x="834491" y="0"/>
                    </a:lnTo>
                    <a:lnTo>
                      <a:pt x="0" y="0"/>
                    </a:lnTo>
                    <a:lnTo>
                      <a:pt x="0" y="413317"/>
                    </a:lnTo>
                    <a:cubicBezTo>
                      <a:pt x="2252" y="554860"/>
                      <a:pt x="117540" y="676475"/>
                      <a:pt x="278314" y="721451"/>
                    </a:cubicBezTo>
                    <a:close/>
                  </a:path>
                </a:pathLst>
              </a:custGeom>
              <a:solidFill>
                <a:srgbClr val="EBE7E7"/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TextBox 10">
                <a:extLst>
                  <a:ext uri="{FF2B5EF4-FFF2-40B4-BE49-F238E27FC236}">
                    <a16:creationId xmlns:a16="http://schemas.microsoft.com/office/drawing/2014/main" id="{AA1CF82A-CAD3-8265-AE81-BE9C3459B01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834491" cy="6420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664"/>
                  </a:lnSpc>
                </a:pPr>
                <a:endParaRPr/>
              </a:p>
            </p:txBody>
          </p:sp>
        </p:grpSp>
        <p:sp>
          <p:nvSpPr>
            <p:cNvPr id="36" name="TextBox 25">
              <a:extLst>
                <a:ext uri="{FF2B5EF4-FFF2-40B4-BE49-F238E27FC236}">
                  <a16:creationId xmlns:a16="http://schemas.microsoft.com/office/drawing/2014/main" id="{16FFFB7B-99C6-BFCA-3D5C-604B0D45E9AF}"/>
                </a:ext>
              </a:extLst>
            </p:cNvPr>
            <p:cNvSpPr txBox="1"/>
            <p:nvPr/>
          </p:nvSpPr>
          <p:spPr>
            <a:xfrm>
              <a:off x="7795873" y="2939645"/>
              <a:ext cx="2350430" cy="151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48"/>
                </a:lnSpc>
              </a:pPr>
              <a:r>
                <a:rPr lang="en-US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ARTSTUDIO </a:t>
              </a:r>
              <a:r>
                <a:rPr lang="en-US" sz="1603" dirty="0" err="1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Nevsky</a:t>
              </a:r>
              <a:r>
                <a:rPr lang="en-US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 </a:t>
              </a:r>
            </a:p>
            <a:p>
              <a:pPr algn="ctr">
                <a:lnSpc>
                  <a:spcPts val="2148"/>
                </a:lnSpc>
              </a:pPr>
              <a:r>
                <a:rPr lang="en-US" sz="16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— a space of comfort and inspiration.</a:t>
              </a:r>
            </a:p>
            <a:p>
              <a:pPr algn="ctr">
                <a:lnSpc>
                  <a:spcPts val="2148"/>
                </a:lnSpc>
              </a:pPr>
              <a:endParaRPr lang="en-US" sz="1603" dirty="0">
                <a:solidFill>
                  <a:srgbClr val="000000"/>
                </a:solidFill>
                <a:latin typeface="Circe"/>
                <a:ea typeface="Circe"/>
                <a:cs typeface="Circe"/>
                <a:sym typeface="Circe"/>
              </a:endParaRPr>
            </a:p>
            <a:p>
              <a:pPr algn="ctr">
                <a:lnSpc>
                  <a:spcPts val="1746"/>
                </a:lnSpc>
              </a:pPr>
              <a:r>
                <a:rPr lang="en-US" sz="1303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A unique aparthotel for living, working and leisure.</a:t>
              </a:r>
            </a:p>
          </p:txBody>
        </p:sp>
        <p:sp>
          <p:nvSpPr>
            <p:cNvPr id="37" name="TextBox 29">
              <a:extLst>
                <a:ext uri="{FF2B5EF4-FFF2-40B4-BE49-F238E27FC236}">
                  <a16:creationId xmlns:a16="http://schemas.microsoft.com/office/drawing/2014/main" id="{884A4A87-583F-FEE9-E0C4-0DF9EB9FA040}"/>
                </a:ext>
              </a:extLst>
            </p:cNvPr>
            <p:cNvSpPr txBox="1"/>
            <p:nvPr/>
          </p:nvSpPr>
          <p:spPr>
            <a:xfrm>
              <a:off x="7415808" y="6252779"/>
              <a:ext cx="3110559" cy="7403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Stay connected with ARTSTUDIO</a:t>
              </a: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Contacts, social media, and assistance </a:t>
              </a:r>
            </a:p>
            <a:p>
              <a:pPr algn="ctr">
                <a:lnSpc>
                  <a:spcPts val="2038"/>
                </a:lnSpc>
              </a:pPr>
              <a:r>
                <a:rPr lang="en-US" sz="910" dirty="0">
                  <a:solidFill>
                    <a:srgbClr val="000000"/>
                  </a:solidFill>
                  <a:latin typeface="Circe"/>
                  <a:ea typeface="Circe"/>
                  <a:cs typeface="Circe"/>
                  <a:sym typeface="Circe"/>
                </a:rPr>
                <a:t>— all available via QR</a:t>
              </a:r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817B7FA4-A8E8-BA25-C251-FBBA8A04A597}"/>
                </a:ext>
              </a:extLst>
            </p:cNvPr>
            <p:cNvSpPr/>
            <p:nvPr/>
          </p:nvSpPr>
          <p:spPr>
            <a:xfrm>
              <a:off x="8006176" y="553259"/>
              <a:ext cx="1929824" cy="1157151"/>
            </a:xfrm>
            <a:custGeom>
              <a:avLst/>
              <a:gdLst/>
              <a:ahLst/>
              <a:cxnLst/>
              <a:rect l="l" t="t" r="r" b="b"/>
              <a:pathLst>
                <a:path w="1929824" h="1157151">
                  <a:moveTo>
                    <a:pt x="0" y="0"/>
                  </a:moveTo>
                  <a:lnTo>
                    <a:pt x="1929824" y="0"/>
                  </a:lnTo>
                  <a:lnTo>
                    <a:pt x="1929824" y="1157152"/>
                  </a:lnTo>
                  <a:lnTo>
                    <a:pt x="0" y="1157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2" b="-3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Freeform 21">
            <a:extLst>
              <a:ext uri="{FF2B5EF4-FFF2-40B4-BE49-F238E27FC236}">
                <a16:creationId xmlns:a16="http://schemas.microsoft.com/office/drawing/2014/main" id="{FC9BB0DE-AF7D-84F0-4AD4-02E75841E51B}"/>
              </a:ext>
            </a:extLst>
          </p:cNvPr>
          <p:cNvSpPr>
            <a:spLocks/>
          </p:cNvSpPr>
          <p:nvPr/>
        </p:nvSpPr>
        <p:spPr>
          <a:xfrm>
            <a:off x="8391974" y="5102292"/>
            <a:ext cx="1158228" cy="1158228"/>
          </a:xfrm>
          <a:custGeom>
            <a:avLst/>
            <a:gdLst/>
            <a:ahLst/>
            <a:cxnLst/>
            <a:rect l="l" t="t" r="r" b="b"/>
            <a:pathLst>
              <a:path w="1158228" h="1158228">
                <a:moveTo>
                  <a:pt x="0" y="0"/>
                </a:moveTo>
                <a:lnTo>
                  <a:pt x="1158228" y="0"/>
                </a:lnTo>
                <a:lnTo>
                  <a:pt x="1158228" y="1158228"/>
                </a:lnTo>
                <a:lnTo>
                  <a:pt x="0" y="1158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3939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341</Words>
  <Application>Microsoft Office PowerPoint</Application>
  <PresentationFormat>Произвольный</PresentationFormat>
  <Paragraphs>55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Circe</vt:lpstr>
      <vt:lpstr>Arial</vt:lpstr>
      <vt:lpstr>Calibri</vt:lpstr>
      <vt:lpstr>Circe Bold</vt:lpstr>
      <vt:lpstr>Office Theme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Брошюра АН</dc:title>
  <cp:lastModifiedBy>Александр Арафаилов</cp:lastModifiedBy>
  <cp:revision>8</cp:revision>
  <dcterms:created xsi:type="dcterms:W3CDTF">2006-08-16T00:00:00Z</dcterms:created>
  <dcterms:modified xsi:type="dcterms:W3CDTF">2026-06-23T14:26:53Z</dcterms:modified>
  <dc:identifier>DAG_ty84f3o</dc:identifier>
</cp:coreProperties>
</file>