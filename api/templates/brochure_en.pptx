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</p:sldIdLst>
  <p:sldSz cx="10693400" cy="7556500"/>
  <p:notesSz cx="6858000" cy="9144000"/>
  <p:embeddedFontLst>
    <p:embeddedFont>
      <p:font typeface="Circe Bold" charset="1" panose="020B0602020203020203"/>
      <p:regular r:id="rId8"/>
    </p:embeddedFont>
    <p:embeddedFont>
      <p:font typeface="Circe" charset="1" panose="020B0502020203020203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font" Target="fonts/font8.fntdata"/><Relationship Id="rId9" Type="http://schemas.openxmlformats.org/officeDocument/2006/relationships/font" Target="fonts/font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430221" y="-315799"/>
            <a:ext cx="1842750" cy="4095799"/>
            <a:chOff x="0" y="0"/>
            <a:chExt cx="660400" cy="14678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60400" cy="1467842"/>
            </a:xfrm>
            <a:custGeom>
              <a:avLst/>
              <a:gdLst/>
              <a:ahLst/>
              <a:cxnLst/>
              <a:rect r="r" b="b" t="t" l="l"/>
              <a:pathLst>
                <a:path h="1467842" w="660400">
                  <a:moveTo>
                    <a:pt x="220252" y="1448773"/>
                  </a:moveTo>
                  <a:cubicBezTo>
                    <a:pt x="254109" y="1460287"/>
                    <a:pt x="292600" y="1467842"/>
                    <a:pt x="330378" y="1467842"/>
                  </a:cubicBezTo>
                  <a:cubicBezTo>
                    <a:pt x="368157" y="1467842"/>
                    <a:pt x="404509" y="1461365"/>
                    <a:pt x="438009" y="1449851"/>
                  </a:cubicBezTo>
                  <a:cubicBezTo>
                    <a:pt x="438723" y="1449492"/>
                    <a:pt x="439435" y="1449492"/>
                    <a:pt x="440148" y="1449132"/>
                  </a:cubicBezTo>
                  <a:cubicBezTo>
                    <a:pt x="565955" y="1403077"/>
                    <a:pt x="658618" y="1281463"/>
                    <a:pt x="660400" y="112479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123955"/>
                  </a:lnTo>
                  <a:cubicBezTo>
                    <a:pt x="1782" y="1282182"/>
                    <a:pt x="93019" y="1403797"/>
                    <a:pt x="220252" y="1448773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660400" cy="1369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108264" y="5875934"/>
            <a:ext cx="669436" cy="150528"/>
            <a:chOff x="0" y="0"/>
            <a:chExt cx="892582" cy="200704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340404" y="0"/>
              <a:ext cx="200704" cy="200704"/>
              <a:chOff x="0" y="0"/>
              <a:chExt cx="812800" cy="81280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p/>
            </p:txBody>
          </p:sp>
          <p:sp>
            <p:nvSpPr>
              <p:cNvPr name="TextBox 8" id="8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66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91878" y="0"/>
              <a:ext cx="200704" cy="200704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p/>
            </p:txBody>
          </p:sp>
          <p:sp>
            <p:nvSpPr>
              <p:cNvPr name="TextBox 11" id="11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664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0" y="0"/>
              <a:ext cx="200704" cy="200704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p/>
            </p:txBody>
          </p:sp>
          <p:sp>
            <p:nvSpPr>
              <p:cNvPr name="TextBox 14" id="14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664"/>
                  </a:lnSpc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290103" y="162198"/>
            <a:ext cx="3146443" cy="2605461"/>
            <a:chOff x="0" y="0"/>
            <a:chExt cx="4195258" cy="3473948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0" y="0"/>
              <a:ext cx="885827" cy="885827"/>
              <a:chOff x="0" y="0"/>
              <a:chExt cx="81280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p/>
            </p:txBody>
          </p:sp>
          <p:sp>
            <p:nvSpPr>
              <p:cNvPr name="TextBox 18" id="18"/>
              <p:cNvSpPr txBox="true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664"/>
                  </a:lnSpc>
                </a:pPr>
              </a:p>
            </p:txBody>
          </p:sp>
        </p:grpSp>
        <p:sp>
          <p:nvSpPr>
            <p:cNvPr name="AutoShape 19" id="19"/>
            <p:cNvSpPr/>
            <p:nvPr/>
          </p:nvSpPr>
          <p:spPr>
            <a:xfrm flipV="true">
              <a:off x="885827" y="998817"/>
              <a:ext cx="1889581" cy="0"/>
            </a:xfrm>
            <a:prstGeom prst="line">
              <a:avLst/>
            </a:prstGeom>
            <a:ln cap="rnd" w="25400">
              <a:solidFill>
                <a:srgbClr val="767576"/>
              </a:solidFill>
              <a:prstDash val="solid"/>
              <a:headEnd type="none" len="sm" w="sm"/>
              <a:tailEnd type="none" len="sm" w="sm"/>
            </a:ln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 rot="0">
              <a:off x="442914" y="152693"/>
              <a:ext cx="3752344" cy="6937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true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Flower Orders</a:t>
              </a:r>
            </a:p>
            <a:p>
              <a:pPr algn="l">
                <a:lnSpc>
                  <a:spcPts val="1357"/>
                </a:lnSpc>
              </a:pPr>
              <a:r>
                <a:rPr lang="en-US" sz="116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We’ll help you choose and arrange a bouquet — just ask the receptionist.</a:t>
              </a:r>
            </a:p>
          </p:txBody>
        </p:sp>
        <p:grpSp>
          <p:nvGrpSpPr>
            <p:cNvPr name="Group 21" id="21"/>
            <p:cNvGrpSpPr/>
            <p:nvPr/>
          </p:nvGrpSpPr>
          <p:grpSpPr>
            <a:xfrm rot="0">
              <a:off x="0" y="1143217"/>
              <a:ext cx="885827" cy="885827"/>
              <a:chOff x="0" y="0"/>
              <a:chExt cx="812800" cy="8128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p/>
            </p:txBody>
          </p:sp>
          <p:sp>
            <p:nvSpPr>
              <p:cNvPr name="TextBox 23" id="23"/>
              <p:cNvSpPr txBox="true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664"/>
                  </a:lnSpc>
                </a:pP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0">
              <a:off x="0" y="2403461"/>
              <a:ext cx="885827" cy="885827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p/>
            </p:txBody>
          </p:sp>
          <p:sp>
            <p:nvSpPr>
              <p:cNvPr name="TextBox 26" id="26"/>
              <p:cNvSpPr txBox="true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664"/>
                  </a:lnSpc>
                </a:pPr>
              </a:p>
            </p:txBody>
          </p:sp>
        </p:grpSp>
        <p:sp>
          <p:nvSpPr>
            <p:cNvPr name="AutoShape 27" id="27"/>
            <p:cNvSpPr/>
            <p:nvPr/>
          </p:nvSpPr>
          <p:spPr>
            <a:xfrm flipV="true">
              <a:off x="885827" y="3461248"/>
              <a:ext cx="1889581" cy="0"/>
            </a:xfrm>
            <a:prstGeom prst="line">
              <a:avLst/>
            </a:prstGeom>
            <a:ln cap="rnd" w="25400">
              <a:solidFill>
                <a:srgbClr val="767576"/>
              </a:solidFill>
              <a:prstDash val="solid"/>
              <a:headEnd type="none" len="sm" w="sm"/>
              <a:tailEnd type="none" len="sm" w="sm"/>
            </a:ln>
          </p:spPr>
          <p:txBody>
            <a:bodyPr/>
            <a:p/>
          </p:txBody>
        </p:sp>
        <p:sp>
          <p:nvSpPr>
            <p:cNvPr name="AutoShape 28" id="28"/>
            <p:cNvSpPr/>
            <p:nvPr/>
          </p:nvSpPr>
          <p:spPr>
            <a:xfrm flipV="true">
              <a:off x="885827" y="2187561"/>
              <a:ext cx="1889581" cy="0"/>
            </a:xfrm>
            <a:prstGeom prst="line">
              <a:avLst/>
            </a:prstGeom>
            <a:ln cap="rnd" w="25400">
              <a:solidFill>
                <a:srgbClr val="767576"/>
              </a:solidFill>
              <a:prstDash val="solid"/>
              <a:headEnd type="none" len="sm" w="sm"/>
              <a:tailEnd type="none" len="sm" w="sm"/>
            </a:ln>
          </p:spPr>
          <p:txBody>
            <a:bodyPr/>
            <a:p/>
          </p:txBody>
        </p:sp>
        <p:sp>
          <p:nvSpPr>
            <p:cNvPr name="TextBox 29" id="29"/>
            <p:cNvSpPr txBox="true"/>
            <p:nvPr/>
          </p:nvSpPr>
          <p:spPr>
            <a:xfrm rot="0">
              <a:off x="442914" y="1226277"/>
              <a:ext cx="3628992" cy="863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true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Excursions</a:t>
              </a:r>
            </a:p>
            <a:p>
              <a:pPr algn="l">
                <a:lnSpc>
                  <a:spcPts val="1331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Book excursions at reception and receive a 10% discount voucher for a City Sightseeing tour.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393917" y="2527752"/>
              <a:ext cx="3677989" cy="6764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true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Transfers</a:t>
              </a:r>
            </a:p>
            <a:p>
              <a:pPr algn="l">
                <a:lnSpc>
                  <a:spcPts val="1386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Order</a:t>
              </a: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a transfer to the railway station or airport — details at reception.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290103" y="2885915"/>
            <a:ext cx="664370" cy="664370"/>
            <a:chOff x="0" y="0"/>
            <a:chExt cx="812800" cy="812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33" id="3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90103" y="3796888"/>
            <a:ext cx="664370" cy="664370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36" id="36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290103" y="4762719"/>
            <a:ext cx="664370" cy="664370"/>
            <a:chOff x="0" y="0"/>
            <a:chExt cx="812800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sp>
        <p:nvSpPr>
          <p:cNvPr name="AutoShape 40" id="40"/>
          <p:cNvSpPr/>
          <p:nvPr/>
        </p:nvSpPr>
        <p:spPr>
          <a:xfrm>
            <a:off x="954473" y="3635028"/>
            <a:ext cx="1417186" cy="0"/>
          </a:xfrm>
          <a:prstGeom prst="line">
            <a:avLst/>
          </a:prstGeom>
          <a:ln cap="rnd" w="19050">
            <a:solidFill>
              <a:srgbClr val="76757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41" id="41"/>
          <p:cNvSpPr/>
          <p:nvPr/>
        </p:nvSpPr>
        <p:spPr>
          <a:xfrm>
            <a:off x="954473" y="4654736"/>
            <a:ext cx="1417186" cy="0"/>
          </a:xfrm>
          <a:prstGeom prst="line">
            <a:avLst/>
          </a:prstGeom>
          <a:ln cap="rnd" w="19050">
            <a:solidFill>
              <a:srgbClr val="76757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42" id="42"/>
          <p:cNvSpPr/>
          <p:nvPr/>
        </p:nvSpPr>
        <p:spPr>
          <a:xfrm flipV="true">
            <a:off x="954473" y="5541389"/>
            <a:ext cx="1417186" cy="0"/>
          </a:xfrm>
          <a:prstGeom prst="line">
            <a:avLst/>
          </a:prstGeom>
          <a:ln cap="rnd" w="19050">
            <a:solidFill>
              <a:srgbClr val="76757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43" id="43"/>
          <p:cNvSpPr/>
          <p:nvPr/>
        </p:nvSpPr>
        <p:spPr>
          <a:xfrm flipV="true">
            <a:off x="954473" y="7333546"/>
            <a:ext cx="1417186" cy="0"/>
          </a:xfrm>
          <a:prstGeom prst="line">
            <a:avLst/>
          </a:prstGeom>
          <a:ln cap="rnd" w="19050">
            <a:solidFill>
              <a:srgbClr val="76757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44" id="44"/>
          <p:cNvSpPr/>
          <p:nvPr/>
        </p:nvSpPr>
        <p:spPr>
          <a:xfrm flipV="true">
            <a:off x="8044254" y="3728709"/>
            <a:ext cx="1417186" cy="0"/>
          </a:xfrm>
          <a:prstGeom prst="line">
            <a:avLst/>
          </a:prstGeom>
          <a:ln cap="rnd" w="19050">
            <a:solidFill>
              <a:srgbClr val="76757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5" id="45"/>
          <p:cNvGrpSpPr/>
          <p:nvPr/>
        </p:nvGrpSpPr>
        <p:grpSpPr>
          <a:xfrm rot="0">
            <a:off x="7379884" y="1073235"/>
            <a:ext cx="664370" cy="664370"/>
            <a:chOff x="0" y="0"/>
            <a:chExt cx="812800" cy="8128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47" id="47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7379884" y="162198"/>
            <a:ext cx="664370" cy="664370"/>
            <a:chOff x="0" y="0"/>
            <a:chExt cx="812800" cy="812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50" id="5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7379884" y="1984208"/>
            <a:ext cx="664370" cy="664370"/>
            <a:chOff x="0" y="0"/>
            <a:chExt cx="812800" cy="8128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53" id="5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7379884" y="2875467"/>
            <a:ext cx="664370" cy="664370"/>
            <a:chOff x="0" y="0"/>
            <a:chExt cx="812800" cy="8128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56" id="56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sp>
        <p:nvSpPr>
          <p:cNvPr name="AutoShape 57" id="57"/>
          <p:cNvSpPr/>
          <p:nvPr/>
        </p:nvSpPr>
        <p:spPr>
          <a:xfrm>
            <a:off x="8044254" y="1822348"/>
            <a:ext cx="1417186" cy="0"/>
          </a:xfrm>
          <a:prstGeom prst="line">
            <a:avLst/>
          </a:prstGeom>
          <a:ln cap="rnd" w="19050">
            <a:solidFill>
              <a:srgbClr val="76757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58" id="58"/>
          <p:cNvSpPr/>
          <p:nvPr/>
        </p:nvSpPr>
        <p:spPr>
          <a:xfrm>
            <a:off x="8044254" y="911310"/>
            <a:ext cx="1417186" cy="0"/>
          </a:xfrm>
          <a:prstGeom prst="line">
            <a:avLst/>
          </a:prstGeom>
          <a:ln cap="rnd" w="19050">
            <a:solidFill>
              <a:srgbClr val="76757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59" id="59"/>
          <p:cNvSpPr/>
          <p:nvPr/>
        </p:nvSpPr>
        <p:spPr>
          <a:xfrm>
            <a:off x="8044254" y="2806056"/>
            <a:ext cx="1417186" cy="0"/>
          </a:xfrm>
          <a:prstGeom prst="line">
            <a:avLst/>
          </a:prstGeom>
          <a:ln cap="rnd" w="19050">
            <a:solidFill>
              <a:srgbClr val="76757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60" id="60"/>
          <p:cNvSpPr/>
          <p:nvPr/>
        </p:nvSpPr>
        <p:spPr>
          <a:xfrm flipH="false" flipV="false" rot="0">
            <a:off x="8514305" y="6046087"/>
            <a:ext cx="1050231" cy="1050231"/>
          </a:xfrm>
          <a:custGeom>
            <a:avLst/>
            <a:gdLst/>
            <a:ahLst/>
            <a:cxnLst/>
            <a:rect r="r" b="b" t="t" l="l"/>
            <a:pathLst>
              <a:path h="1050231" w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1" id="61"/>
          <p:cNvSpPr/>
          <p:nvPr/>
        </p:nvSpPr>
        <p:spPr>
          <a:xfrm flipH="false" flipV="false" rot="0">
            <a:off x="4116102" y="1091912"/>
            <a:ext cx="2459797" cy="3428288"/>
          </a:xfrm>
          <a:custGeom>
            <a:avLst/>
            <a:gdLst/>
            <a:ahLst/>
            <a:cxnLst/>
            <a:rect r="r" b="b" t="t" l="l"/>
            <a:pathLst>
              <a:path h="3428288" w="2459797">
                <a:moveTo>
                  <a:pt x="0" y="0"/>
                </a:moveTo>
                <a:lnTo>
                  <a:pt x="2459796" y="0"/>
                </a:lnTo>
                <a:lnTo>
                  <a:pt x="2459796" y="3428288"/>
                </a:lnTo>
                <a:lnTo>
                  <a:pt x="0" y="34282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79" r="0" b="-79"/>
            </a:stretch>
          </a:blipFill>
        </p:spPr>
        <p:txBody>
          <a:bodyPr/>
          <a:p/>
        </p:txBody>
      </p:sp>
      <p:sp>
        <p:nvSpPr>
          <p:cNvPr name="TextBox 62" id="62"/>
          <p:cNvSpPr txBox="true"/>
          <p:nvPr/>
        </p:nvSpPr>
        <p:spPr>
          <a:xfrm rot="0">
            <a:off x="622288" y="2885915"/>
            <a:ext cx="2979562" cy="863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true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Restaurant MemET &amp; Pir</a:t>
            </a:r>
          </a:p>
          <a:p>
            <a:pPr algn="l">
              <a:lnSpc>
                <a:spcPts val="1357"/>
              </a:lnSpc>
            </a:pPr>
            <a:r>
              <a:rPr lang="en-US" sz="116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Continental breakfast</a:t>
            </a:r>
            <a:r>
              <a:rPr lang="en-US" sz="116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is served from 9:30 AM to 11:30 AM, starting from 850 RUB. Lunch and dinner are also available à la carte.</a:t>
            </a:r>
          </a:p>
          <a:p>
            <a:pPr algn="l">
              <a:lnSpc>
                <a:spcPts val="1357"/>
              </a:lnSpc>
            </a:pPr>
          </a:p>
        </p:txBody>
      </p:sp>
      <p:sp>
        <p:nvSpPr>
          <p:cNvPr name="TextBox 63" id="63"/>
          <p:cNvSpPr txBox="true"/>
          <p:nvPr/>
        </p:nvSpPr>
        <p:spPr>
          <a:xfrm rot="0">
            <a:off x="622288" y="4950483"/>
            <a:ext cx="1492627" cy="348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true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DIP SPA ROOM </a:t>
            </a:r>
          </a:p>
          <a:p>
            <a:pPr algn="l">
              <a:lnSpc>
                <a:spcPts val="1357"/>
              </a:lnSpc>
            </a:pPr>
            <a:r>
              <a:rPr lang="en-US" sz="116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Bookings at reception.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622288" y="3835053"/>
            <a:ext cx="3118941" cy="512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0"/>
              </a:lnSpc>
            </a:pPr>
            <a:r>
              <a:rPr lang="en-US" sz="1109" b="true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Laundry &amp; Amenities</a:t>
            </a:r>
          </a:p>
          <a:p>
            <a:pPr algn="l">
              <a:lnSpc>
                <a:spcPts val="1420"/>
              </a:lnSpc>
            </a:pPr>
            <a:r>
              <a:rPr lang="en-US" sz="1109" b="true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1 </a:t>
            </a: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laundry powder sachet</a:t>
            </a: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complimentary upon check-in. Extra capsules — 150 ₽ each.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7748816" y="2967981"/>
            <a:ext cx="2376153" cy="508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true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Luggage Storage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You can store your luggage for 24 hours on the 1st floor.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7748816" y="2025006"/>
            <a:ext cx="2721744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1"/>
              </a:lnSpc>
            </a:pPr>
            <a:r>
              <a:rPr lang="en-US" sz="1109" b="true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Courier Deliveries</a:t>
            </a:r>
          </a:p>
          <a:p>
            <a:pPr algn="l">
              <a:lnSpc>
                <a:spcPts val="1331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Couriers are not allowed on guest floors.</a:t>
            </a:r>
          </a:p>
          <a:p>
            <a:pPr algn="l">
              <a:lnSpc>
                <a:spcPts val="1331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Orders can be collected in the lobby.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7712069" y="193084"/>
            <a:ext cx="2376153" cy="508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true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Housekeeping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Daily before 18:00.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Linen change — on the 3th day.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7712069" y="1162959"/>
            <a:ext cx="2851006" cy="50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6"/>
              </a:lnSpc>
            </a:pPr>
            <a:r>
              <a:rPr lang="en-US" sz="1109" b="true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Item Rental</a:t>
            </a:r>
          </a:p>
          <a:p>
            <a:pPr algn="l">
              <a:lnSpc>
                <a:spcPts val="1386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Vases</a:t>
            </a: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various pillows, baby items </a:t>
            </a:r>
          </a:p>
          <a:p>
            <a:pPr algn="l">
              <a:lnSpc>
                <a:spcPts val="1386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available on request at reception.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4253952" y="5152054"/>
            <a:ext cx="2378061" cy="24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20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More</a:t>
            </a:r>
            <a:r>
              <a:rPr lang="en-US" sz="20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than just a stay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3921348" y="6359837"/>
            <a:ext cx="3043267" cy="550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Breakfasts</a:t>
            </a: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flowers, excursions 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live like at home, relax like in a hotel.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All services — within reach. Just ask at reception!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4217596" y="308598"/>
            <a:ext cx="2256807" cy="447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services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712069" y="4412136"/>
            <a:ext cx="2654703" cy="654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Electronic </a:t>
            </a:r>
          </a:p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Guest Book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7841077" y="5304928"/>
            <a:ext cx="2396687" cy="741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Full</a:t>
            </a: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list of services and useful information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in the electronic guest book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(scan the QR code below)</a:t>
            </a:r>
          </a:p>
          <a:p>
            <a:pPr algn="ctr">
              <a:lnSpc>
                <a:spcPts val="1556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775" y="4015916"/>
            <a:ext cx="3600450" cy="735556"/>
            <a:chOff x="0" y="0"/>
            <a:chExt cx="4800600" cy="980741"/>
          </a:xfrm>
        </p:grpSpPr>
        <p:sp>
          <p:nvSpPr>
            <p:cNvPr name="AutoShape 3" id="3"/>
            <p:cNvSpPr/>
            <p:nvPr/>
          </p:nvSpPr>
          <p:spPr>
            <a:xfrm flipV="true">
              <a:off x="0" y="12700"/>
              <a:ext cx="4800600" cy="0"/>
            </a:xfrm>
            <a:prstGeom prst="line">
              <a:avLst/>
            </a:prstGeom>
            <a:ln cap="rnd" w="25400">
              <a:solidFill>
                <a:srgbClr val="767576"/>
              </a:solidFill>
              <a:prstDash val="solid"/>
              <a:headEnd type="none" len="sm" w="sm"/>
              <a:tailEnd type="none" len="sm" w="sm"/>
            </a:ln>
          </p:spPr>
          <p:txBody>
            <a:bodyPr/>
            <a:p/>
          </p:txBody>
        </p:sp>
        <p:grpSp>
          <p:nvGrpSpPr>
            <p:cNvPr name="Group 4" id="4"/>
            <p:cNvGrpSpPr/>
            <p:nvPr/>
          </p:nvGrpSpPr>
          <p:grpSpPr>
            <a:xfrm rot="0">
              <a:off x="11809" y="190500"/>
              <a:ext cx="4776982" cy="548941"/>
              <a:chOff x="0" y="0"/>
              <a:chExt cx="1283972" cy="147546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1283972" cy="147546"/>
              </a:xfrm>
              <a:custGeom>
                <a:avLst/>
                <a:gdLst/>
                <a:ahLst/>
                <a:cxnLst/>
                <a:rect r="r" b="b" t="t" l="l"/>
                <a:pathLst>
                  <a:path h="147546" w="1283972">
                    <a:moveTo>
                      <a:pt x="0" y="0"/>
                    </a:moveTo>
                    <a:lnTo>
                      <a:pt x="1283972" y="0"/>
                    </a:lnTo>
                    <a:lnTo>
                      <a:pt x="1283972" y="147546"/>
                    </a:lnTo>
                    <a:lnTo>
                      <a:pt x="0" y="147546"/>
                    </a:lnTo>
                    <a:close/>
                  </a:path>
                </a:pathLst>
              </a:custGeom>
              <a:solidFill>
                <a:srgbClr val="767576"/>
              </a:solidFill>
            </p:spPr>
            <p:txBody>
              <a:bodyPr/>
              <a:p/>
            </p:txBody>
          </p:sp>
          <p:sp>
            <p:nvSpPr>
              <p:cNvPr name="TextBox 6" id="6"/>
              <p:cNvSpPr txBox="true"/>
              <p:nvPr/>
            </p:nvSpPr>
            <p:spPr>
              <a:xfrm>
                <a:off x="0" y="-28575"/>
                <a:ext cx="1283972" cy="1761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664"/>
                  </a:lnSpc>
                </a:pPr>
              </a:p>
            </p:txBody>
          </p:sp>
        </p:grpSp>
        <p:sp>
          <p:nvSpPr>
            <p:cNvPr name="AutoShape 7" id="7"/>
            <p:cNvSpPr/>
            <p:nvPr/>
          </p:nvSpPr>
          <p:spPr>
            <a:xfrm flipV="true">
              <a:off x="0" y="968041"/>
              <a:ext cx="4800600" cy="0"/>
            </a:xfrm>
            <a:prstGeom prst="line">
              <a:avLst/>
            </a:prstGeom>
            <a:ln cap="rnd" w="25400">
              <a:solidFill>
                <a:srgbClr val="767576"/>
              </a:solidFill>
              <a:prstDash val="solid"/>
              <a:headEnd type="none" len="sm" w="sm"/>
              <a:tailEnd type="none" len="sm" w="sm"/>
            </a:ln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7762875" y="323006"/>
            <a:ext cx="2328525" cy="2066314"/>
            <a:chOff x="0" y="0"/>
            <a:chExt cx="834491" cy="7405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34491" cy="740520"/>
            </a:xfrm>
            <a:custGeom>
              <a:avLst/>
              <a:gdLst/>
              <a:ahLst/>
              <a:cxnLst/>
              <a:rect r="r" b="b" t="t" l="l"/>
              <a:pathLst>
                <a:path h="740520" w="834491">
                  <a:moveTo>
                    <a:pt x="278314" y="721451"/>
                  </a:moveTo>
                  <a:cubicBezTo>
                    <a:pt x="321096" y="732965"/>
                    <a:pt x="369734" y="740520"/>
                    <a:pt x="417470" y="740520"/>
                  </a:cubicBezTo>
                  <a:cubicBezTo>
                    <a:pt x="465208" y="740520"/>
                    <a:pt x="511143" y="734043"/>
                    <a:pt x="553474" y="722529"/>
                  </a:cubicBezTo>
                  <a:cubicBezTo>
                    <a:pt x="554376" y="722170"/>
                    <a:pt x="555277" y="722170"/>
                    <a:pt x="556177" y="721811"/>
                  </a:cubicBezTo>
                  <a:cubicBezTo>
                    <a:pt x="715149" y="675755"/>
                    <a:pt x="832239" y="554141"/>
                    <a:pt x="834491" y="413624"/>
                  </a:cubicBezTo>
                  <a:lnTo>
                    <a:pt x="834491" y="0"/>
                  </a:lnTo>
                  <a:lnTo>
                    <a:pt x="0" y="0"/>
                  </a:lnTo>
                  <a:lnTo>
                    <a:pt x="0" y="413317"/>
                  </a:lnTo>
                  <a:cubicBezTo>
                    <a:pt x="2252" y="554860"/>
                    <a:pt x="117540" y="676475"/>
                    <a:pt x="278314" y="721451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834491" cy="6420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8006176" y="553259"/>
            <a:ext cx="1929824" cy="1157151"/>
          </a:xfrm>
          <a:custGeom>
            <a:avLst/>
            <a:gdLst/>
            <a:ahLst/>
            <a:cxnLst/>
            <a:rect r="r" b="b" t="t" l="l"/>
            <a:pathLst>
              <a:path h="1157151" w="1929824">
                <a:moveTo>
                  <a:pt x="0" y="0"/>
                </a:moveTo>
                <a:lnTo>
                  <a:pt x="1929824" y="0"/>
                </a:lnTo>
                <a:lnTo>
                  <a:pt x="1929824" y="1157152"/>
                </a:lnTo>
                <a:lnTo>
                  <a:pt x="0" y="11571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2" r="0" b="-32"/>
            </a:stretch>
          </a:blip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0">
            <a:off x="108000" y="3572061"/>
            <a:ext cx="3437775" cy="469246"/>
            <a:chOff x="0" y="0"/>
            <a:chExt cx="1309133" cy="17869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09133" cy="178693"/>
            </a:xfrm>
            <a:custGeom>
              <a:avLst/>
              <a:gdLst/>
              <a:ahLst/>
              <a:cxnLst/>
              <a:rect r="r" b="b" t="t" l="l"/>
              <a:pathLst>
                <a:path h="178693" w="1309133">
                  <a:moveTo>
                    <a:pt x="0" y="0"/>
                  </a:moveTo>
                  <a:lnTo>
                    <a:pt x="1309133" y="0"/>
                  </a:lnTo>
                  <a:lnTo>
                    <a:pt x="1309133" y="178693"/>
                  </a:lnTo>
                  <a:lnTo>
                    <a:pt x="0" y="178693"/>
                  </a:ln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309133" cy="207268"/>
            </a:xfrm>
            <a:prstGeom prst="rect">
              <a:avLst/>
            </a:prstGeom>
          </p:spPr>
          <p:txBody>
            <a:bodyPr anchor="ctr" rtlCol="false" tIns="47808" lIns="47808" bIns="47808" rIns="47808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8000" y="2792756"/>
            <a:ext cx="3437775" cy="469246"/>
            <a:chOff x="0" y="0"/>
            <a:chExt cx="1309133" cy="17869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09133" cy="178693"/>
            </a:xfrm>
            <a:custGeom>
              <a:avLst/>
              <a:gdLst/>
              <a:ahLst/>
              <a:cxnLst/>
              <a:rect r="r" b="b" t="t" l="l"/>
              <a:pathLst>
                <a:path h="178693" w="1309133">
                  <a:moveTo>
                    <a:pt x="0" y="0"/>
                  </a:moveTo>
                  <a:lnTo>
                    <a:pt x="1309133" y="0"/>
                  </a:lnTo>
                  <a:lnTo>
                    <a:pt x="1309133" y="178693"/>
                  </a:lnTo>
                  <a:lnTo>
                    <a:pt x="0" y="178693"/>
                  </a:ln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1309133" cy="207268"/>
            </a:xfrm>
            <a:prstGeom prst="rect">
              <a:avLst/>
            </a:prstGeom>
          </p:spPr>
          <p:txBody>
            <a:bodyPr anchor="ctr" rtlCol="false" tIns="47808" lIns="47808" bIns="47808" rIns="47808"/>
            <a:lstStyle/>
            <a:p>
              <a:pPr algn="ctr">
                <a:lnSpc>
                  <a:spcPts val="1664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702515" y="1922689"/>
            <a:ext cx="2213058" cy="447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wi-fi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88182" y="2928461"/>
            <a:ext cx="2662984" cy="207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5"/>
              </a:lnSpc>
            </a:pPr>
            <a:r>
              <a:rPr lang="en-US" sz="1444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network: ARTSTUDIO NEVSKY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73510" y="4508032"/>
            <a:ext cx="2212514" cy="479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The code is</a:t>
            </a: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secure and unique 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valid only for your room.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8391974" y="5102292"/>
            <a:ext cx="1158228" cy="1158228"/>
          </a:xfrm>
          <a:custGeom>
            <a:avLst/>
            <a:gdLst/>
            <a:ahLst/>
            <a:cxnLst/>
            <a:rect r="r" b="b" t="t" l="l"/>
            <a:pathLst>
              <a:path h="1158228" w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488182" y="3707776"/>
            <a:ext cx="1964285" cy="207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0"/>
              </a:lnSpc>
            </a:pPr>
            <a:r>
              <a:rPr lang="en-US" sz="143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password: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170785" y="1069352"/>
            <a:ext cx="2350430" cy="447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0"/>
              </a:lnSpc>
            </a:pPr>
            <a:r>
              <a:t>{{PASSWORD}}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795873" y="3048078"/>
            <a:ext cx="2350430" cy="1498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ARTSTUDIO Nevsky </a:t>
            </a:r>
          </a:p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 space of comfort and inspiration.</a:t>
            </a:r>
          </a:p>
          <a:p>
            <a:pPr algn="ctr">
              <a:lnSpc>
                <a:spcPts val="2148"/>
              </a:lnSpc>
            </a:pPr>
          </a:p>
          <a:p>
            <a:pPr algn="ctr">
              <a:lnSpc>
                <a:spcPts val="1746"/>
              </a:lnSpc>
            </a:pPr>
            <a:r>
              <a:rPr lang="en-US" sz="13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</a:t>
            </a:r>
            <a:r>
              <a:rPr lang="en-US" sz="13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unique aparthotel for living, working and leisure.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170785" y="5566075"/>
            <a:ext cx="2350430" cy="447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merch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90720" y="1834983"/>
            <a:ext cx="3110559" cy="17657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 space</a:t>
            </a: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where art, the city, and people meet.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You are not just guests of the aparthotel — you are co-creators of the atmosphere, witnesses to cultural events, and part of the visual story of ARTSTUDIO.</a:t>
            </a:r>
          </a:p>
          <a:p>
            <a:pPr algn="ctr">
              <a:lnSpc>
                <a:spcPts val="2038"/>
              </a:lnSpc>
            </a:pP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We truly appreciate it when you share your photos 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and tag us on social media!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790720" y="6225739"/>
            <a:ext cx="3110559" cy="360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Signature</a:t>
            </a: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pajamas, candles, and souvenirs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all available at reception.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415808" y="6341564"/>
            <a:ext cx="3110559" cy="737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Stay connected with ARTSTUDIO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Contacts, social media, and assistance 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all available via QR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2" y="4035116"/>
            <a:ext cx="1150000" cy="11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{{QR_WIFI}}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DAG_ty84f3o</dc:identifier>
  <dcterms:modified xsi:type="dcterms:W3CDTF">2011-08-01T06:04:30Z</dcterms:modified>
  <cp:revision>1</cp:revision>
  <dc:title>Брошюра АН</dc:title>
</cp:coreProperties>
</file>