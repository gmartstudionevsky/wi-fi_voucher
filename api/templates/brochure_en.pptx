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156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4430221" y="-315799"/>
            <a:ext cx="1842750" cy="4095799"/>
            <a:chOff x="0" y="0"/>
            <a:chExt cx="660400" cy="1467842"/>
          </a:xfrm>
        </p:grpSpPr>
        <p:sp>
          <p:nvSpPr>
            <p:cNvPr id="3" name="Freeform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660400" cy="1467842"/>
            </a:xfrm>
            <a:custGeom>
              <a:avLst/>
              <a:gdLst/>
              <a:ahLst/>
              <a:cxnLst/>
              <a:rect l="l" t="t" r="r" b="b"/>
              <a:pathLst>
                <a:path w="660400" h="1467842">
                  <a:moveTo>
                    <a:pt x="220252" y="1448773"/>
                  </a:moveTo>
                  <a:cubicBezTo>
                    <a:pt x="254109" y="1460287"/>
                    <a:pt x="292600" y="1467842"/>
                    <a:pt x="330378" y="1467842"/>
                  </a:cubicBezTo>
                  <a:cubicBezTo>
                    <a:pt x="368157" y="1467842"/>
                    <a:pt x="404509" y="1461365"/>
                    <a:pt x="438009" y="1449851"/>
                  </a:cubicBezTo>
                  <a:cubicBezTo>
                    <a:pt x="438723" y="1449492"/>
                    <a:pt x="439435" y="1449492"/>
                    <a:pt x="440148" y="1449132"/>
                  </a:cubicBezTo>
                  <a:cubicBezTo>
                    <a:pt x="565955" y="1403077"/>
                    <a:pt x="658618" y="1281463"/>
                    <a:pt x="660400" y="112479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123955"/>
                  </a:lnTo>
                  <a:cubicBezTo>
                    <a:pt x="1782" y="1282182"/>
                    <a:pt x="93019" y="1403797"/>
                    <a:pt x="220252" y="1448773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660400" cy="136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5108264" y="5875934"/>
            <a:ext cx="669436" cy="150528"/>
            <a:chOff x="0" y="0"/>
            <a:chExt cx="892582" cy="200704"/>
          </a:xfrm>
        </p:grpSpPr>
        <p:grpSp>
          <p:nvGrpSpPr>
            <p:cNvPr id="6" name="Group 6"/>
            <p:cNvGrpSpPr>
              <a:grpSpLocks noGrp="1" noUngrp="1" noRot="1" noMove="1" noResize="1"/>
            </p:cNvGrpSpPr>
            <p:nvPr/>
          </p:nvGrpSpPr>
          <p:grpSpPr>
            <a:xfrm>
              <a:off x="340404" y="0"/>
              <a:ext cx="200704" cy="200704"/>
              <a:chOff x="0" y="0"/>
              <a:chExt cx="812800" cy="812800"/>
            </a:xfrm>
          </p:grpSpPr>
          <p:sp>
            <p:nvSpPr>
              <p:cNvPr id="7" name="Freeform 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>
              <a:grpSpLocks noGrp="1" noUngrp="1" noRot="1" noMove="1" noResize="1"/>
            </p:cNvGrpSpPr>
            <p:nvPr/>
          </p:nvGrpSpPr>
          <p:grpSpPr>
            <a:xfrm>
              <a:off x="691878" y="0"/>
              <a:ext cx="200704" cy="200704"/>
              <a:chOff x="0" y="0"/>
              <a:chExt cx="812800" cy="812800"/>
            </a:xfrm>
          </p:grpSpPr>
          <p:sp>
            <p:nvSpPr>
              <p:cNvPr id="10" name="Freeform 1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200704" cy="200704"/>
              <a:chOff x="0" y="0"/>
              <a:chExt cx="812800" cy="812800"/>
            </a:xfrm>
          </p:grpSpPr>
          <p:sp>
            <p:nvSpPr>
              <p:cNvPr id="13" name="Freeform 13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</p:grpSp>
      <p:grpSp>
        <p:nvGrpSpPr>
          <p:cNvPr id="15" name="Group 15"/>
          <p:cNvGrpSpPr>
            <a:grpSpLocks noGrp="1" noUngrp="1" noRot="1" noMove="1" noResize="1"/>
          </p:cNvGrpSpPr>
          <p:nvPr/>
        </p:nvGrpSpPr>
        <p:grpSpPr>
          <a:xfrm>
            <a:off x="290103" y="162198"/>
            <a:ext cx="3146443" cy="2605461"/>
            <a:chOff x="0" y="0"/>
            <a:chExt cx="4195258" cy="3473948"/>
          </a:xfrm>
        </p:grpSpPr>
        <p:grpSp>
          <p:nvGrpSpPr>
            <p:cNvPr id="16" name="Group 16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885827" cy="885827"/>
              <a:chOff x="0" y="0"/>
              <a:chExt cx="812800" cy="812800"/>
            </a:xfrm>
          </p:grpSpPr>
          <p:sp>
            <p:nvSpPr>
              <p:cNvPr id="17" name="Freeform 1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9" name="AutoShape 1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998817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52693"/>
              <a:ext cx="3752344" cy="693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Flower Orders</a:t>
              </a:r>
            </a:p>
            <a:p>
              <a:pPr algn="l">
                <a:lnSpc>
                  <a:spcPts val="1357"/>
                </a:lnSpc>
              </a:pP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We’ll help you choose and arrange a bouquet — just ask the receptionist.</a:t>
              </a:r>
            </a:p>
          </p:txBody>
        </p:sp>
        <p:grpSp>
          <p:nvGrpSpPr>
            <p:cNvPr id="21" name="Group 21"/>
            <p:cNvGrpSpPr>
              <a:grpSpLocks noGrp="1" noUngrp="1" noRot="1" noMove="1" noResize="1"/>
            </p:cNvGrpSpPr>
            <p:nvPr/>
          </p:nvGrpSpPr>
          <p:grpSpPr>
            <a:xfrm>
              <a:off x="0" y="1143217"/>
              <a:ext cx="885827" cy="885827"/>
              <a:chOff x="0" y="0"/>
              <a:chExt cx="812800" cy="812800"/>
            </a:xfrm>
          </p:grpSpPr>
          <p:sp>
            <p:nvSpPr>
              <p:cNvPr id="22" name="Freeform 22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TextBox 23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>
              <a:grpSpLocks noGrp="1" noUngrp="1" noRot="1" noMove="1" noResize="1"/>
            </p:cNvGrpSpPr>
            <p:nvPr/>
          </p:nvGrpSpPr>
          <p:grpSpPr>
            <a:xfrm>
              <a:off x="0" y="2403461"/>
              <a:ext cx="885827" cy="885827"/>
              <a:chOff x="0" y="0"/>
              <a:chExt cx="812800" cy="812800"/>
            </a:xfrm>
          </p:grpSpPr>
          <p:sp>
            <p:nvSpPr>
              <p:cNvPr id="25" name="Freeform 2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TextBox 2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7" name="AutoShape 2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3461248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AutoShape 2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2187561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226277"/>
              <a:ext cx="3628992" cy="863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Excursions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Book excursions at reception and receive a 10% discount voucher for a City Sightseeing tour.</a:t>
              </a:r>
            </a:p>
          </p:txBody>
        </p:sp>
        <p:sp>
          <p:nvSpPr>
            <p:cNvPr id="30" name="TextBox 3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93917" y="2527752"/>
              <a:ext cx="3677989" cy="676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Transfers</a:t>
              </a:r>
            </a:p>
            <a:p>
              <a:pPr algn="l">
                <a:lnSpc>
                  <a:spcPts val="1386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Order a transfer to the railway station or airport — details at reception.</a:t>
              </a:r>
            </a:p>
          </p:txBody>
        </p:sp>
      </p:grpSp>
      <p:grpSp>
        <p:nvGrpSpPr>
          <p:cNvPr id="31" name="Group 31"/>
          <p:cNvGrpSpPr>
            <a:grpSpLocks noGrp="1" noUngrp="1" noRot="1" noMove="1" noResize="1"/>
          </p:cNvGrpSpPr>
          <p:nvPr/>
        </p:nvGrpSpPr>
        <p:grpSpPr>
          <a:xfrm>
            <a:off x="290103" y="2885915"/>
            <a:ext cx="664370" cy="664370"/>
            <a:chOff x="0" y="0"/>
            <a:chExt cx="812800" cy="812800"/>
          </a:xfrm>
        </p:grpSpPr>
        <p:sp>
          <p:nvSpPr>
            <p:cNvPr id="32" name="Freeform 3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3" name="TextBox 3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4" name="Group 34"/>
          <p:cNvGrpSpPr>
            <a:grpSpLocks noGrp="1" noUngrp="1" noRot="1" noMove="1" noResize="1"/>
          </p:cNvGrpSpPr>
          <p:nvPr/>
        </p:nvGrpSpPr>
        <p:grpSpPr>
          <a:xfrm>
            <a:off x="290103" y="3796888"/>
            <a:ext cx="664370" cy="664370"/>
            <a:chOff x="0" y="0"/>
            <a:chExt cx="812800" cy="812800"/>
          </a:xfrm>
        </p:grpSpPr>
        <p:sp>
          <p:nvSpPr>
            <p:cNvPr id="35" name="Freeform 3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7" name="Group 37"/>
          <p:cNvGrpSpPr>
            <a:grpSpLocks noGrp="1" noUngrp="1" noRot="1" noMove="1" noResize="1"/>
          </p:cNvGrpSpPr>
          <p:nvPr/>
        </p:nvGrpSpPr>
        <p:grpSpPr>
          <a:xfrm>
            <a:off x="290103" y="4762719"/>
            <a:ext cx="664370" cy="664370"/>
            <a:chOff x="0" y="0"/>
            <a:chExt cx="812800" cy="812800"/>
          </a:xfrm>
        </p:grpSpPr>
        <p:sp>
          <p:nvSpPr>
            <p:cNvPr id="38" name="Freeform 3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40" name="AutoShape 4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363502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4654736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54473" y="5541389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54473" y="7333546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8044254" y="3728709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5" name="Group 45"/>
          <p:cNvGrpSpPr>
            <a:grpSpLocks noGrp="1" noUngrp="1" noRot="1" noMove="1" noResize="1"/>
          </p:cNvGrpSpPr>
          <p:nvPr/>
        </p:nvGrpSpPr>
        <p:grpSpPr>
          <a:xfrm>
            <a:off x="7379884" y="1073235"/>
            <a:ext cx="664370" cy="664370"/>
            <a:chOff x="0" y="0"/>
            <a:chExt cx="812800" cy="812800"/>
          </a:xfrm>
        </p:grpSpPr>
        <p:sp>
          <p:nvSpPr>
            <p:cNvPr id="46" name="Freeform 46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7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48" name="Group 48"/>
          <p:cNvGrpSpPr>
            <a:grpSpLocks noGrp="1" noUngrp="1" noRot="1" noMove="1" noResize="1"/>
          </p:cNvGrpSpPr>
          <p:nvPr/>
        </p:nvGrpSpPr>
        <p:grpSpPr>
          <a:xfrm>
            <a:off x="7379884" y="162198"/>
            <a:ext cx="664370" cy="664370"/>
            <a:chOff x="0" y="0"/>
            <a:chExt cx="812800" cy="812800"/>
          </a:xfrm>
        </p:grpSpPr>
        <p:sp>
          <p:nvSpPr>
            <p:cNvPr id="49" name="Freeform 4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0" name="TextBox 5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1" name="Group 51"/>
          <p:cNvGrpSpPr>
            <a:grpSpLocks noGrp="1" noUngrp="1" noRot="1" noMove="1" noResize="1"/>
          </p:cNvGrpSpPr>
          <p:nvPr/>
        </p:nvGrpSpPr>
        <p:grpSpPr>
          <a:xfrm>
            <a:off x="7379884" y="1984208"/>
            <a:ext cx="664370" cy="664370"/>
            <a:chOff x="0" y="0"/>
            <a:chExt cx="812800" cy="812800"/>
          </a:xfrm>
        </p:grpSpPr>
        <p:sp>
          <p:nvSpPr>
            <p:cNvPr id="52" name="Freeform 5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4" name="Group 54"/>
          <p:cNvGrpSpPr>
            <a:grpSpLocks noGrp="1" noUngrp="1" noRot="1" noMove="1" noResize="1"/>
          </p:cNvGrpSpPr>
          <p:nvPr/>
        </p:nvGrpSpPr>
        <p:grpSpPr>
          <a:xfrm>
            <a:off x="7379884" y="2875467"/>
            <a:ext cx="664370" cy="664370"/>
            <a:chOff x="0" y="0"/>
            <a:chExt cx="812800" cy="812800"/>
          </a:xfrm>
        </p:grpSpPr>
        <p:sp>
          <p:nvSpPr>
            <p:cNvPr id="55" name="Freeform 5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6" name="TextBox 5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57" name="AutoShape 5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182234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8" name="AutoShape 5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91131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9" name="AutoShape 59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2806056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0" name="Freeform 6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14305" y="6046087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1" name="Freeform 6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16102" y="1091912"/>
            <a:ext cx="2459797" cy="3428288"/>
          </a:xfrm>
          <a:custGeom>
            <a:avLst/>
            <a:gdLst/>
            <a:ahLst/>
            <a:cxnLst/>
            <a:rect l="l" t="t" r="r" b="b"/>
            <a:pathLst>
              <a:path w="2459797" h="3428288">
                <a:moveTo>
                  <a:pt x="0" y="0"/>
                </a:moveTo>
                <a:lnTo>
                  <a:pt x="2459796" y="0"/>
                </a:lnTo>
                <a:lnTo>
                  <a:pt x="2459796" y="3428288"/>
                </a:lnTo>
                <a:lnTo>
                  <a:pt x="0" y="34282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79" b="-7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2" name="TextBox 6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2885915"/>
            <a:ext cx="2979562" cy="8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Restaurant MemET &amp; Pir</a:t>
            </a:r>
          </a:p>
          <a:p>
            <a:pPr algn="l">
              <a:lnSpc>
                <a:spcPts val="1357"/>
              </a:lnSpc>
            </a:pP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Continental breakfast is served from 9:30 AM to 11:30 AM, starting from 850 RUB. Lunch and dinner are also available à la carte.</a:t>
            </a:r>
          </a:p>
          <a:p>
            <a:pPr algn="l">
              <a:lnSpc>
                <a:spcPts val="1357"/>
              </a:lnSpc>
            </a:pPr>
            <a:endParaRPr lang="en-US" sz="1169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63" name="TextBox 6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4950483"/>
            <a:ext cx="1492627" cy="3488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DIP SPA ROOM </a:t>
            </a:r>
          </a:p>
          <a:p>
            <a:pPr algn="l">
              <a:lnSpc>
                <a:spcPts val="1357"/>
              </a:lnSpc>
            </a:pP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Bookings at reception.</a:t>
            </a:r>
          </a:p>
        </p:txBody>
      </p:sp>
      <p:sp>
        <p:nvSpPr>
          <p:cNvPr id="64" name="TextBox 6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3835053"/>
            <a:ext cx="3118941" cy="512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Laundry &amp; Amenities</a:t>
            </a:r>
          </a:p>
          <a:p>
            <a:pPr algn="l">
              <a:lnSpc>
                <a:spcPts val="1420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1 </a:t>
            </a: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laundry powder sachet — complimentary upon check-in. Extra capsules — 150 ₽ each.</a:t>
            </a:r>
          </a:p>
        </p:txBody>
      </p:sp>
      <p:sp>
        <p:nvSpPr>
          <p:cNvPr id="65" name="TextBox 6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2967981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Luggage Storage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You can store your luggage for 24 hours on the 1st floor.</a:t>
            </a:r>
          </a:p>
        </p:txBody>
      </p:sp>
      <p:sp>
        <p:nvSpPr>
          <p:cNvPr id="66" name="TextBox 6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2025006"/>
            <a:ext cx="2721744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1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Courier Deliveries</a:t>
            </a:r>
          </a:p>
          <a:p>
            <a:pPr algn="l">
              <a:lnSpc>
                <a:spcPts val="1331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Couriers are not allowed on guest floors.</a:t>
            </a:r>
          </a:p>
          <a:p>
            <a:pPr algn="l">
              <a:lnSpc>
                <a:spcPts val="1331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Orders can be collected in the lobby.</a:t>
            </a:r>
          </a:p>
        </p:txBody>
      </p:sp>
      <p:sp>
        <p:nvSpPr>
          <p:cNvPr id="67" name="TextBox 67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193084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Housekeeping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Daily before 18:00.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Linen change — on the 3th day.</a:t>
            </a:r>
          </a:p>
        </p:txBody>
      </p:sp>
      <p:sp>
        <p:nvSpPr>
          <p:cNvPr id="68" name="TextBox 68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1162959"/>
            <a:ext cx="2851006" cy="507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6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Item Rental</a:t>
            </a:r>
          </a:p>
          <a:p>
            <a:pPr algn="l">
              <a:lnSpc>
                <a:spcPts val="1386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Vases, various pillows, baby items </a:t>
            </a:r>
          </a:p>
          <a:p>
            <a:pPr algn="l">
              <a:lnSpc>
                <a:spcPts val="1386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available on request at reception.</a:t>
            </a:r>
          </a:p>
        </p:txBody>
      </p:sp>
      <p:sp>
        <p:nvSpPr>
          <p:cNvPr id="69" name="TextBox 6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3952" y="5152054"/>
            <a:ext cx="2378061" cy="24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More than just a stay</a:t>
            </a:r>
          </a:p>
        </p:txBody>
      </p:sp>
      <p:sp>
        <p:nvSpPr>
          <p:cNvPr id="70" name="TextBox 70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921348" y="6359837"/>
            <a:ext cx="3043267" cy="550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Breakfasts, flowers, excursions 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live like at home, relax like in a hotel.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services — within reach. Just ask at reception!</a:t>
            </a:r>
          </a:p>
        </p:txBody>
      </p:sp>
      <p:sp>
        <p:nvSpPr>
          <p:cNvPr id="71" name="TextBox 7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17596" y="308598"/>
            <a:ext cx="2256807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services</a:t>
            </a:r>
          </a:p>
        </p:txBody>
      </p:sp>
      <p:sp>
        <p:nvSpPr>
          <p:cNvPr id="72" name="TextBox 7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4412136"/>
            <a:ext cx="2654703" cy="654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Electronic </a:t>
            </a:r>
          </a:p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Guest Book</a:t>
            </a:r>
          </a:p>
        </p:txBody>
      </p:sp>
      <p:sp>
        <p:nvSpPr>
          <p:cNvPr id="73" name="TextBox 7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841077" y="5304928"/>
            <a:ext cx="2396687" cy="74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Full list of services and useful information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in the electronic guest book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(scan the QR code below)</a:t>
            </a:r>
          </a:p>
          <a:p>
            <a:pPr algn="ctr">
              <a:lnSpc>
                <a:spcPts val="1556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3545775" y="4015916"/>
            <a:ext cx="3600450" cy="735556"/>
            <a:chOff x="0" y="0"/>
            <a:chExt cx="4800600" cy="980741"/>
          </a:xfrm>
        </p:grpSpPr>
        <p:sp>
          <p:nvSpPr>
            <p:cNvPr id="3" name="AutoShape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0" y="12700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4" name="Group 4"/>
            <p:cNvGrpSpPr>
              <a:grpSpLocks noGrp="1" noUngrp="1" noRot="1" noMove="1" noResize="1"/>
            </p:cNvGrpSpPr>
            <p:nvPr/>
          </p:nvGrpSpPr>
          <p:grpSpPr>
            <a:xfrm>
              <a:off x="11809" y="190500"/>
              <a:ext cx="4776982" cy="548941"/>
              <a:chOff x="0" y="0"/>
              <a:chExt cx="1283972" cy="147546"/>
            </a:xfrm>
          </p:grpSpPr>
          <p:sp>
            <p:nvSpPr>
              <p:cNvPr id="5" name="Freeform 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1283972" cy="147546"/>
              </a:xfrm>
              <a:custGeom>
                <a:avLst/>
                <a:gdLst/>
                <a:ahLst/>
                <a:cxnLst/>
                <a:rect l="l" t="t" r="r" b="b"/>
                <a:pathLst>
                  <a:path w="1283972" h="147546">
                    <a:moveTo>
                      <a:pt x="0" y="0"/>
                    </a:moveTo>
                    <a:lnTo>
                      <a:pt x="1283972" y="0"/>
                    </a:lnTo>
                    <a:lnTo>
                      <a:pt x="1283972" y="147546"/>
                    </a:lnTo>
                    <a:lnTo>
                      <a:pt x="0" y="147546"/>
                    </a:lnTo>
                    <a:close/>
                  </a:path>
                </a:pathLst>
              </a:custGeom>
              <a:solidFill>
                <a:srgbClr val="767576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-28575"/>
                <a:ext cx="1283972" cy="1761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7" name="AutoShape 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0" y="968041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Grp="1" noUngrp="1" noRot="1" noMove="1" noResize="1"/>
          </p:cNvGrpSpPr>
          <p:nvPr/>
        </p:nvGrpSpPr>
        <p:grpSpPr>
          <a:xfrm>
            <a:off x="7762875" y="323006"/>
            <a:ext cx="2328525" cy="2066314"/>
            <a:chOff x="0" y="0"/>
            <a:chExt cx="834491" cy="740520"/>
          </a:xfrm>
        </p:grpSpPr>
        <p:sp>
          <p:nvSpPr>
            <p:cNvPr id="9" name="Freeform 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34491" cy="740520"/>
            </a:xfrm>
            <a:custGeom>
              <a:avLst/>
              <a:gdLst/>
              <a:ahLst/>
              <a:cxnLst/>
              <a:rect l="l" t="t" r="r" b="b"/>
              <a:pathLst>
                <a:path w="834491" h="740520">
                  <a:moveTo>
                    <a:pt x="278314" y="721451"/>
                  </a:moveTo>
                  <a:cubicBezTo>
                    <a:pt x="321096" y="732965"/>
                    <a:pt x="369734" y="740520"/>
                    <a:pt x="417470" y="740520"/>
                  </a:cubicBezTo>
                  <a:cubicBezTo>
                    <a:pt x="465208" y="740520"/>
                    <a:pt x="511143" y="734043"/>
                    <a:pt x="553474" y="722529"/>
                  </a:cubicBezTo>
                  <a:cubicBezTo>
                    <a:pt x="554376" y="722170"/>
                    <a:pt x="555277" y="722170"/>
                    <a:pt x="556177" y="721811"/>
                  </a:cubicBezTo>
                  <a:cubicBezTo>
                    <a:pt x="715149" y="675755"/>
                    <a:pt x="832239" y="554141"/>
                    <a:pt x="834491" y="413624"/>
                  </a:cubicBezTo>
                  <a:lnTo>
                    <a:pt x="834491" y="0"/>
                  </a:lnTo>
                  <a:lnTo>
                    <a:pt x="0" y="0"/>
                  </a:lnTo>
                  <a:lnTo>
                    <a:pt x="0" y="413317"/>
                  </a:lnTo>
                  <a:cubicBezTo>
                    <a:pt x="2252" y="554860"/>
                    <a:pt x="117540" y="676475"/>
                    <a:pt x="278314" y="721451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834491" cy="642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11" name="Freeform 1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6176" y="553259"/>
            <a:ext cx="1929824" cy="1157151"/>
          </a:xfrm>
          <a:custGeom>
            <a:avLst/>
            <a:gdLst/>
            <a:ahLst/>
            <a:cxnLst/>
            <a:rect l="l" t="t" r="r" b="b"/>
            <a:pathLst>
              <a:path w="1929824" h="1157151">
                <a:moveTo>
                  <a:pt x="0" y="0"/>
                </a:moveTo>
                <a:lnTo>
                  <a:pt x="1929824" y="0"/>
                </a:lnTo>
                <a:lnTo>
                  <a:pt x="1929824" y="1157152"/>
                </a:lnTo>
                <a:lnTo>
                  <a:pt x="0" y="11571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2" b="-32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08000" y="3572061"/>
            <a:ext cx="3437775" cy="469246"/>
            <a:chOff x="0" y="0"/>
            <a:chExt cx="1309133" cy="17869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09133" cy="178693"/>
            </a:xfrm>
            <a:custGeom>
              <a:avLst/>
              <a:gdLst/>
              <a:ahLst/>
              <a:cxnLst/>
              <a:rect l="l" t="t" r="r" b="b"/>
              <a:pathLst>
                <a:path w="1309133" h="178693">
                  <a:moveTo>
                    <a:pt x="0" y="0"/>
                  </a:moveTo>
                  <a:lnTo>
                    <a:pt x="1309133" y="0"/>
                  </a:lnTo>
                  <a:lnTo>
                    <a:pt x="1309133" y="178693"/>
                  </a:lnTo>
                  <a:lnTo>
                    <a:pt x="0" y="178693"/>
                  </a:ln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309133" cy="207268"/>
            </a:xfrm>
            <a:prstGeom prst="rect">
              <a:avLst/>
            </a:prstGeom>
          </p:spPr>
          <p:txBody>
            <a:bodyPr lIns="47808" tIns="47808" rIns="47808" bIns="47808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8000" y="2792756"/>
            <a:ext cx="3437775" cy="469246"/>
            <a:chOff x="0" y="0"/>
            <a:chExt cx="1309133" cy="17869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09133" cy="178693"/>
            </a:xfrm>
            <a:custGeom>
              <a:avLst/>
              <a:gdLst/>
              <a:ahLst/>
              <a:cxnLst/>
              <a:rect l="l" t="t" r="r" b="b"/>
              <a:pathLst>
                <a:path w="1309133" h="178693">
                  <a:moveTo>
                    <a:pt x="0" y="0"/>
                  </a:moveTo>
                  <a:lnTo>
                    <a:pt x="1309133" y="0"/>
                  </a:lnTo>
                  <a:lnTo>
                    <a:pt x="1309133" y="178693"/>
                  </a:lnTo>
                  <a:lnTo>
                    <a:pt x="0" y="178693"/>
                  </a:ln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309133" cy="207268"/>
            </a:xfrm>
            <a:prstGeom prst="rect">
              <a:avLst/>
            </a:prstGeom>
          </p:spPr>
          <p:txBody>
            <a:bodyPr lIns="47808" tIns="47808" rIns="47808" bIns="47808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02515" y="1922689"/>
            <a:ext cx="2213058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wi-fi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88182" y="2928461"/>
            <a:ext cx="2662984" cy="207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5"/>
              </a:lnSpc>
            </a:pPr>
            <a:r>
              <a:rPr lang="en-US" sz="1444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network: ARTSTUDIO NEVSKY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5886" y="4158791"/>
            <a:ext cx="2212514" cy="479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The code is secure and unique </a:t>
            </a:r>
          </a:p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valid only for your room.</a:t>
            </a:r>
          </a:p>
        </p:txBody>
      </p:sp>
      <p:sp>
        <p:nvSpPr>
          <p:cNvPr id="21" name="Freeform 2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1974" y="5102292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488182" y="3707776"/>
            <a:ext cx="1964285" cy="207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lang="en-US" sz="143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password: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60067" y="3545464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/>
              <a:t>{{PASSWORD}}</a:t>
            </a:r>
          </a:p>
        </p:txBody>
      </p:sp>
      <p:sp>
        <p:nvSpPr>
          <p:cNvPr id="24" name="TextBox 2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95873" y="3048078"/>
            <a:ext cx="2350430" cy="1498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ARTSTUDIO Nevsky </a:t>
            </a:r>
          </a:p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 space of comfort and inspiration.</a:t>
            </a:r>
          </a:p>
          <a:p>
            <a:pPr algn="ctr">
              <a:lnSpc>
                <a:spcPts val="2148"/>
              </a:lnSpc>
            </a:pPr>
            <a:endParaRPr lang="en-US" sz="1603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1746"/>
              </a:lnSpc>
            </a:pP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 unique aparthotel for living, working and leisure.</a:t>
            </a:r>
          </a:p>
        </p:txBody>
      </p:sp>
      <p:sp>
        <p:nvSpPr>
          <p:cNvPr id="25" name="TextBox 2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70785" y="5566075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merch</a:t>
            </a:r>
          </a:p>
        </p:txBody>
      </p:sp>
      <p:sp>
        <p:nvSpPr>
          <p:cNvPr id="26" name="TextBox 2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90720" y="1834983"/>
            <a:ext cx="3110559" cy="1765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 space where art, the city, and people meet.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You are not just guests of the aparthotel — you are co-creators of the atmosphere, witnesses to cultural events, and part of the visual story of ARTSTUDIO.</a:t>
            </a:r>
          </a:p>
          <a:p>
            <a:pPr algn="ctr">
              <a:lnSpc>
                <a:spcPts val="2038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We truly appreciate it when you share your photos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and tag us on social media!</a:t>
            </a:r>
          </a:p>
        </p:txBody>
      </p:sp>
      <p:sp>
        <p:nvSpPr>
          <p:cNvPr id="27" name="TextBox 27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90720" y="6225739"/>
            <a:ext cx="3110559" cy="36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Signature pajamas, candles, and souvenirs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available at reception.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15808" y="6341564"/>
            <a:ext cx="3110559" cy="737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Stay connected with ARTSTUDIO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Contacts, social media, and assistance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all available via QR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1173" y="4879052"/>
            <a:ext cx="1150000" cy="11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{{QR_WIFI}}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360</Words>
  <Application>Microsoft Office PowerPoint</Application>
  <PresentationFormat>Произвольный</PresentationFormat>
  <Paragraphs>55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Circe Bold</vt:lpstr>
      <vt:lpstr>Arial</vt:lpstr>
      <vt:lpstr>Circe</vt:lpstr>
      <vt:lpstr>Calibri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3</cp:revision>
  <dcterms:created xsi:type="dcterms:W3CDTF">2006-08-16T00:00:00Z</dcterms:created>
  <dcterms:modified xsi:type="dcterms:W3CDTF">2026-02-02T08:59:53Z</dcterms:modified>
  <dc:identifier>DAG_ty84f3o</dc:identifier>
</cp:coreProperties>
</file>